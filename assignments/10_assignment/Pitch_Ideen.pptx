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  <p:sldId id="264" r:id="rId13"/>
  </p:sldIdLst>
  <p:sldSz cx="13333413" cy="7499350"/>
  <p:notesSz cx="6858000" cy="9144000"/>
  <p:defaultTextStyle>
    <a:defPPr>
      <a:defRPr lang="de-DE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03"/>
    <p:restoredTop sz="96976"/>
  </p:normalViewPr>
  <p:slideViewPr>
    <p:cSldViewPr snapToGrid="0">
      <p:cViewPr varScale="1">
        <p:scale>
          <a:sx n="138" d="100"/>
          <a:sy n="138" d="100"/>
        </p:scale>
        <p:origin x="216" y="320"/>
      </p:cViewPr>
      <p:guideLst/>
    </p:cSldViewPr>
  </p:slideViewPr>
  <p:notesTextViewPr>
    <p:cViewPr>
      <p:scale>
        <a:sx n="1" d="1"/>
        <a:sy n="1" d="1"/>
      </p:scale>
      <p:origin x="0" y="-72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ED824-E53A-6A40-B0FF-DB21E6C48247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B8358-665A-604B-868E-8B48EA0AA0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Idee B geht es um GPU-Code mit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cuTile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 wollen das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Tensor-Kontraktionen nicht mehr von Hand herleiten, sondern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automatisch suchen und benchmarken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lassen.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rote Faden ist: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 einem 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Einsum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eine 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bauen, daraus Kernel generieren, messen und die beste Variante zurückgeben.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 starten nicht bei null, sondern haben aus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Assignment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05 und 06 schon zwei reale Fälle mit Baselines.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8358-665A-604B-868E-8B48EA0AA04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935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Assignment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05 haben wir die L2-optimale Aufteilung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 Hand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hergeleitet.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hat funktioniert, aber für jede neue Kontraktion, jede neue Shape oder GPU fängt man wieder von vorne an.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Punkt ist: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Leistung entscheidet sich in der Konfiguration — also 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Tiling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Ausführungsreihenfolge — nicht erst im Kernel-Code.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 muss Prim-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L2-Super-Tiles, die PAR/SEQ/PRIM-Reihenfolge und das Block-Mapping festlegen.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Klar kommt der Ansatz mit Risiken: der Suchraum kann explodieren, die Kernel muss man automatisch erzeugen, und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plus Benchmark-Zeit kostet.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Genau deshalb halten wir den 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klein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dazu auf der übernächsten Folie mehr.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8358-665A-604B-868E-8B48EA0AA04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81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Idee wird durch die Vorlesung motiviert.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05 wird die Optimierungslogik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 dem Kernel herausgezogen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eine abstrakte Konfiguration: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beschreibt die Kontraktion,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ein Optimizer variiert Split, Permutation und Ausführungstypen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und der Kernel bleibt einfach und damit fair vergleichbar.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 der L2-Reuse über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Swizzling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ebenfalls in der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ist exakt das, was unser Auto-Tuner finden soll: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Block-Reihenfolgen und Super-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-Größen, die Wiederverwendung im L2 erzeugen.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8358-665A-604B-868E-8B48EA0AA04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037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 starten auf einer soliden Basis: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A05 haben wir ein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Shape 4× 4096³, von Hand getunt: 128×128×64-Prim-Tiles mit 8×8-L2-Blocking bringen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66 TFLOPS gegenüber 38 in der Baseline — Faktor 1,7.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A06 die deutlich kompliziertere Tensor-Ring-Kontraktion mit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zwei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Reduktionsdimensionen: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Faktor 3 rausgeholt.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Beide Fälle haben schon Korrektheitscheck und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do_bench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sind genau die Referenzen, die der Auto-Tuner schlagen bzw. erreichen muss.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8358-665A-604B-868E-8B48EA0AA04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242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sieht der Loop aus: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Wir nehmen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Einsum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Shapes,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bauen eine Basis-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-Typen und Strides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erzeugen daraus einen kleinen Satz Kandidaten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füllen pro Kandidat ein 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cuTile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-Template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prüfen Korrektheit und messen mit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do_bench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und geben am Ende die beste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plus Top-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zurück.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Entscheidend ist unsere 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-Abgrenzung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das wird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kein allgemeiner Tensor-Compiler.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 beschränken uns zuerst auf zwei-Input-GEMM-artige Kontraktionen und füllen ein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festes Template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statt beliebigen Code zu generieren. Das hält das Projekt machbar.</a:t>
            </a:r>
          </a:p>
          <a:p>
            <a:br>
              <a:rPr lang="de-DE" dirty="0"/>
            </a:b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8358-665A-604B-868E-8B48EA0AA04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402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Suchraum zu groß?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Erstens machen wir ihn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zählbar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drei Werte für M, drei für N, drei für K, drei L2-Faktoren —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hoch 4, also 81 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-Kombinationen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mal die gültigen Ausführungs-Muster.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--&gt; Ohne diese Eingrenzung wären es schnell tausende, die man gar nicht in vertretbarer Zeit kompilieren kann.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Zweitens — und das ist die eigentliche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durchsuchen wir in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zwei Stufen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Wir enumerieren alles,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prunen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aber statisch schon vor dem 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anhand von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-Memory-, Register- und Teilbarkeitsgrenzen,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sodasshoffentlich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nur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 bis 60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übrig bleiben.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Die ranken wir mit einem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billigen Kostenmodell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über L2-Traffic und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Arithmetic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Intensity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und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 die Top-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werden wirklich generiert und gemessen.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Ergebnis: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Minuten statt Stunden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und kein blindes Durchkompilieren.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8358-665A-604B-868E-8B48EA0AA04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740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Damit das Projekt nicht an einem zu großen Anspruch scheitert, ist jede Stufe eigenständig abgeschlossen.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M1 ist nur der Enumerator für gültige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noch ohne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Codegen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M2 generiert die erste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cuTile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-Variante für den A05-Fall.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M3 ist der vollständige Loop mit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do_bench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Korrektheitscheck und Ranking gegen unsere Hand-Lösung.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Schon M1 bis M3 sind ein vollständiges, abgeschlossenes Projekt, das A05 reproduziert.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M4 ist dann die Erweiterung — der Transfer auf die Tensor-Ring-Kontraktion aus A06, optional mit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-Cache.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8358-665A-604B-868E-8B48EA0AA04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582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Beim Auswerten zählt für uns nicht nur die Spitzenzahl. Konkret: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A05 soll der Auto-Tuner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mindestens 95 % unserer Hand-L2-Leistung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erreichen, also rund 63 von 66 TFLOPS; in A06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mindestens 90 % des Hand-Kernels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und auf jeden Fall deutlich über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torch.einsum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 messen sauber Laufzeit, TFLOPS und Korrektheit. 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Spannend ist die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Ablation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Wir wollen sehen,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welche Konfigurationswahl wirklich den Unterschied macht — L2-Reuse oder Parallelität.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 Stretch-Ziel ein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-Cache pro Shape und GPU. — Das war Idee B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8358-665A-604B-868E-8B48EA0AA04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31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258299" y="118872"/>
            <a:ext cx="2651760" cy="1828800"/>
          </a:xfrm>
          <a:prstGeom prst="roundRect">
            <a:avLst/>
          </a:prstGeom>
          <a:solidFill>
            <a:srgbClr val="2FB7A0">
              <a:alpha val="8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10058400" y="5349240"/>
            <a:ext cx="1554480" cy="1097280"/>
          </a:xfrm>
          <a:prstGeom prst="roundRect">
            <a:avLst/>
          </a:prstGeom>
          <a:solidFill>
            <a:srgbClr val="E45756">
              <a:alpha val="8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hape 4"/>
          <p:cNvSpPr/>
          <p:nvPr/>
        </p:nvSpPr>
        <p:spPr>
          <a:xfrm>
            <a:off x="566928" y="594360"/>
            <a:ext cx="146304" cy="5349240"/>
          </a:xfrm>
          <a:prstGeom prst="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5"/>
          <p:cNvSpPr txBox="1"/>
          <p:nvPr/>
        </p:nvSpPr>
        <p:spPr>
          <a:xfrm>
            <a:off x="841248" y="77724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200" b="1">
                <a:solidFill>
                  <a:srgbClr val="2FB7A0"/>
                </a:solidFill>
                <a:latin typeface="Aptos"/>
              </a:rPr>
              <a:t>PROJEKTIDEE B · GPU / cuTile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86384" y="132588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4200" b="1">
                <a:solidFill>
                  <a:srgbClr val="FFFFFF"/>
                </a:solidFill>
                <a:latin typeface="Aptos"/>
              </a:rPr>
              <a:t>Auto-Tuning für</a:t>
            </a:r>
          </a:p>
          <a:p>
            <a:pPr algn="l"/>
            <a:r>
              <a:rPr lang="de-DE" sz="4200" b="1">
                <a:solidFill>
                  <a:srgbClr val="FFFFFF"/>
                </a:solidFill>
                <a:latin typeface="Aptos"/>
              </a:rPr>
              <a:t>Tensor-Kontraktionen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333756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000" b="0">
                <a:solidFill>
                  <a:srgbClr val="DCE7F3"/>
                </a:solidFill>
                <a:latin typeface="Aptos"/>
              </a:rPr>
              <a:t>Ein bewusst eingeschränkter Such- und Benchmarking-Loop für gute cuTile-Tiling-Konfigurationen.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22960" y="498348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0">
                <a:solidFill>
                  <a:srgbClr val="B8C7D9"/>
                </a:solidFill>
                <a:latin typeface="Aptos"/>
              </a:rPr>
              <a:t>Niklas Becker-Klöser · Daria Elagina</a:t>
            </a:r>
          </a:p>
          <a:p>
            <a:pPr algn="l"/>
            <a:r>
              <a:rPr lang="de-DE" sz="1300" b="0">
                <a:solidFill>
                  <a:srgbClr val="B8C7D9"/>
                </a:solidFill>
                <a:latin typeface="Aptos"/>
              </a:rPr>
              <a:t>Pitch, 17.06.2026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909560" y="1234440"/>
            <a:ext cx="3200400" cy="713232"/>
          </a:xfrm>
          <a:prstGeom prst="roundRect">
            <a:avLst/>
          </a:prstGeom>
          <a:solidFill>
            <a:srgbClr val="21384F"/>
          </a:solidFill>
          <a:ln w="11430">
            <a:solidFill>
              <a:srgbClr val="36536E"/>
            </a:solidFill>
          </a:ln>
        </p:spPr>
        <p:txBody>
          <a:bodyPr wrap="square" lIns="109728" tIns="109728" rIns="109728" bIns="109728" anchor="ctr"/>
          <a:lstStyle/>
          <a:p>
            <a:pPr algn="l"/>
            <a:r>
              <a:rPr lang="de-DE" sz="1800" b="1">
                <a:solidFill>
                  <a:srgbClr val="FFFFFF"/>
                </a:solidFill>
                <a:latin typeface="Aptos"/>
              </a:rPr>
              <a:t>Einsum → Config → Benchmark → Best Kernel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028431" y="2240280"/>
            <a:ext cx="1417320" cy="29260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cmk,ckn→cmn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646920" y="2240280"/>
            <a:ext cx="1874519" cy="292608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acspx,bspy→abcyx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028431" y="2697480"/>
            <a:ext cx="960120" cy="292608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do_bench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162288" y="2697480"/>
            <a:ext cx="1060704" cy="29260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12263A"/>
                </a:solidFill>
                <a:latin typeface="Aptos"/>
              </a:rPr>
              <a:t>L2 reuse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0396728" y="2697480"/>
            <a:ext cx="1078992" cy="292608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FP16/FP32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000" b="1">
                <a:solidFill>
                  <a:srgbClr val="2FB7A0"/>
                </a:solidFill>
                <a:latin typeface="Aptos"/>
              </a:rPr>
              <a:t>Idee B · GPU / cuTile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3035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700" b="1">
                <a:solidFill>
                  <a:srgbClr val="12263A"/>
                </a:solidFill>
                <a:latin typeface="Aptos"/>
              </a:rPr>
              <a:t>Warum Auto-Tuning?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33856"/>
            <a:ext cx="11155680" cy="0"/>
          </a:xfrm>
          <a:prstGeom prst="line">
            <a:avLst/>
          </a:prstGeom>
          <a:ln w="9525">
            <a:solidFill>
              <a:srgbClr val="D7DEE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58368" y="1481328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900" b="0">
                <a:solidFill>
                  <a:srgbClr val="1F2937"/>
                </a:solidFill>
                <a:latin typeface="Aptos"/>
              </a:rPr>
              <a:t>In Assignment 05 wurde die L2-optimale Aufteilung manuell hergeleitet. Das funktioniert, skaliert aber schlecht auf neue Kontraktionen, Shapes oder GPUs.</a:t>
            </a:r>
          </a:p>
        </p:txBody>
      </p:sp>
      <p:sp>
        <p:nvSpPr>
          <p:cNvPr id="6" name="Shape 6"/>
          <p:cNvSpPr/>
          <p:nvPr/>
        </p:nvSpPr>
        <p:spPr>
          <a:xfrm>
            <a:off x="5897880" y="1444752"/>
            <a:ext cx="5349240" cy="868680"/>
          </a:xfrm>
          <a:prstGeom prst="roundRect">
            <a:avLst/>
          </a:prstGeom>
          <a:solidFill>
            <a:srgbClr val="EAF7F4"/>
          </a:solidFill>
          <a:ln w="11430">
            <a:solidFill>
              <a:srgbClr val="BFE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126480" y="1609344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2000" b="1">
                <a:solidFill>
                  <a:srgbClr val="12263A"/>
                </a:solidFill>
                <a:latin typeface="Aptos"/>
              </a:rPr>
              <a:t>Die Performance steckt in der Konfiguration, nicht nur im Kernel-Code.</a:t>
            </a:r>
          </a:p>
        </p:txBody>
      </p:sp>
      <p:sp>
        <p:nvSpPr>
          <p:cNvPr id="8" name="Shape 8"/>
          <p:cNvSpPr/>
          <p:nvPr/>
        </p:nvSpPr>
        <p:spPr>
          <a:xfrm>
            <a:off x="658368" y="2743200"/>
            <a:ext cx="3246120" cy="2971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987552" y="2743200"/>
            <a:ext cx="2578608" cy="16687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 10"/>
          <p:cNvSpPr txBox="1"/>
          <p:nvPr/>
        </p:nvSpPr>
        <p:spPr>
          <a:xfrm>
            <a:off x="987552" y="3163824"/>
            <a:ext cx="25786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700" b="1">
                <a:solidFill>
                  <a:srgbClr val="1F2937"/>
                </a:solidFill>
                <a:latin typeface="Aptos"/>
              </a:rPr>
              <a:t>Manuelle Entscheidungen</a:t>
            </a:r>
          </a:p>
        </p:txBody>
      </p:sp>
      <p:sp>
        <p:nvSpPr>
          <p:cNvPr id="11" name="Shape 11"/>
          <p:cNvSpPr/>
          <p:nvPr/>
        </p:nvSpPr>
        <p:spPr>
          <a:xfrm>
            <a:off x="987552" y="3694176"/>
            <a:ext cx="82296" cy="822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 12"/>
          <p:cNvSpPr txBox="1"/>
          <p:nvPr/>
        </p:nvSpPr>
        <p:spPr>
          <a:xfrm>
            <a:off x="1133856" y="3621024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Prim-Tiles: M/N/K</a:t>
            </a:r>
          </a:p>
        </p:txBody>
      </p:sp>
      <p:sp>
        <p:nvSpPr>
          <p:cNvPr id="13" name="Shape 13"/>
          <p:cNvSpPr/>
          <p:nvPr/>
        </p:nvSpPr>
        <p:spPr>
          <a:xfrm>
            <a:off x="987552" y="4103370"/>
            <a:ext cx="82296" cy="822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 14"/>
          <p:cNvSpPr txBox="1"/>
          <p:nvPr/>
        </p:nvSpPr>
        <p:spPr>
          <a:xfrm>
            <a:off x="1133856" y="4030218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L2-Super-Tiles</a:t>
            </a:r>
          </a:p>
        </p:txBody>
      </p:sp>
      <p:sp>
        <p:nvSpPr>
          <p:cNvPr id="15" name="Shape 15"/>
          <p:cNvSpPr/>
          <p:nvPr/>
        </p:nvSpPr>
        <p:spPr>
          <a:xfrm>
            <a:off x="987552" y="4512564"/>
            <a:ext cx="82296" cy="822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 16"/>
          <p:cNvSpPr txBox="1"/>
          <p:nvPr/>
        </p:nvSpPr>
        <p:spPr>
          <a:xfrm>
            <a:off x="1133856" y="4439412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PAR/SEQ/PRIM-Reihenfolge</a:t>
            </a:r>
          </a:p>
        </p:txBody>
      </p:sp>
      <p:sp>
        <p:nvSpPr>
          <p:cNvPr id="17" name="Shape 17"/>
          <p:cNvSpPr/>
          <p:nvPr/>
        </p:nvSpPr>
        <p:spPr>
          <a:xfrm>
            <a:off x="987552" y="4921758"/>
            <a:ext cx="82296" cy="822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 18"/>
          <p:cNvSpPr txBox="1"/>
          <p:nvPr/>
        </p:nvSpPr>
        <p:spPr>
          <a:xfrm>
            <a:off x="1133856" y="4848606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Block-ID Mapping</a:t>
            </a:r>
          </a:p>
        </p:txBody>
      </p:sp>
      <p:sp>
        <p:nvSpPr>
          <p:cNvPr id="19" name="Shape 19"/>
          <p:cNvSpPr/>
          <p:nvPr/>
        </p:nvSpPr>
        <p:spPr>
          <a:xfrm>
            <a:off x="4407407" y="2743200"/>
            <a:ext cx="3246120" cy="2971800"/>
          </a:xfrm>
          <a:prstGeom prst="roundRect">
            <a:avLst/>
          </a:prstGeom>
          <a:solidFill>
            <a:srgbClr val="FFF5F2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4736591" y="2743199"/>
            <a:ext cx="2578608" cy="166878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21"/>
          <p:cNvSpPr txBox="1"/>
          <p:nvPr/>
        </p:nvSpPr>
        <p:spPr>
          <a:xfrm>
            <a:off x="4736591" y="3163824"/>
            <a:ext cx="25786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700" b="1">
                <a:solidFill>
                  <a:srgbClr val="1F2937"/>
                </a:solidFill>
                <a:latin typeface="Aptos"/>
              </a:rPr>
              <a:t>Risiken</a:t>
            </a:r>
          </a:p>
        </p:txBody>
      </p:sp>
      <p:sp>
        <p:nvSpPr>
          <p:cNvPr id="22" name="Shape 22"/>
          <p:cNvSpPr/>
          <p:nvPr/>
        </p:nvSpPr>
        <p:spPr>
          <a:xfrm>
            <a:off x="4736591" y="3694176"/>
            <a:ext cx="82296" cy="82296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4882895" y="3621024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Suchraum explodiert schnell</a:t>
            </a:r>
          </a:p>
        </p:txBody>
      </p:sp>
      <p:sp>
        <p:nvSpPr>
          <p:cNvPr id="24" name="Shape 24"/>
          <p:cNvSpPr/>
          <p:nvPr/>
        </p:nvSpPr>
        <p:spPr>
          <a:xfrm>
            <a:off x="4736591" y="4103370"/>
            <a:ext cx="82296" cy="82296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 25"/>
          <p:cNvSpPr txBox="1"/>
          <p:nvPr/>
        </p:nvSpPr>
        <p:spPr>
          <a:xfrm>
            <a:off x="4882895" y="4030218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Kernelvarianten müssen erzeugt werden</a:t>
            </a:r>
          </a:p>
        </p:txBody>
      </p:sp>
      <p:sp>
        <p:nvSpPr>
          <p:cNvPr id="26" name="Shape 26"/>
          <p:cNvSpPr/>
          <p:nvPr/>
        </p:nvSpPr>
        <p:spPr>
          <a:xfrm>
            <a:off x="4736591" y="4602861"/>
            <a:ext cx="82296" cy="82296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4867038" y="4499803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 dirty="0" err="1">
                <a:solidFill>
                  <a:srgbClr val="1F2937"/>
                </a:solidFill>
                <a:latin typeface="Aptos"/>
              </a:rPr>
              <a:t>Compile</a:t>
            </a:r>
            <a:r>
              <a:rPr lang="de-DE" sz="1500" b="0" dirty="0">
                <a:solidFill>
                  <a:srgbClr val="1F2937"/>
                </a:solidFill>
                <a:latin typeface="Aptos"/>
              </a:rPr>
              <a:t>- und Benchmark-Zeit</a:t>
            </a:r>
          </a:p>
        </p:txBody>
      </p:sp>
      <p:sp>
        <p:nvSpPr>
          <p:cNvPr id="28" name="Shape 28"/>
          <p:cNvSpPr/>
          <p:nvPr/>
        </p:nvSpPr>
        <p:spPr>
          <a:xfrm>
            <a:off x="4736591" y="5004054"/>
            <a:ext cx="82296" cy="82296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 29"/>
          <p:cNvSpPr txBox="1"/>
          <p:nvPr/>
        </p:nvSpPr>
        <p:spPr>
          <a:xfrm>
            <a:off x="4867038" y="4908997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Scope muss begrenzt bleiben</a:t>
            </a:r>
          </a:p>
        </p:txBody>
      </p:sp>
      <p:sp>
        <p:nvSpPr>
          <p:cNvPr id="30" name="Shape 30"/>
          <p:cNvSpPr/>
          <p:nvPr/>
        </p:nvSpPr>
        <p:spPr>
          <a:xfrm>
            <a:off x="8156446" y="2743200"/>
            <a:ext cx="3246120" cy="2971800"/>
          </a:xfrm>
          <a:prstGeom prst="roundRect">
            <a:avLst/>
          </a:prstGeom>
          <a:solidFill>
            <a:srgbClr val="F1FAF8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8485630" y="2743199"/>
            <a:ext cx="2578608" cy="166877"/>
          </a:xfrm>
          <a:prstGeom prst="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 32"/>
          <p:cNvSpPr txBox="1"/>
          <p:nvPr/>
        </p:nvSpPr>
        <p:spPr>
          <a:xfrm>
            <a:off x="8485630" y="3163824"/>
            <a:ext cx="25786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700" b="1">
                <a:solidFill>
                  <a:srgbClr val="1F2937"/>
                </a:solidFill>
                <a:latin typeface="Aptos"/>
              </a:rPr>
              <a:t>Projektziel</a:t>
            </a:r>
          </a:p>
        </p:txBody>
      </p:sp>
      <p:sp>
        <p:nvSpPr>
          <p:cNvPr id="33" name="Shape 33"/>
          <p:cNvSpPr/>
          <p:nvPr/>
        </p:nvSpPr>
        <p:spPr>
          <a:xfrm>
            <a:off x="8485630" y="3694176"/>
            <a:ext cx="82296" cy="82296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Text 34"/>
          <p:cNvSpPr txBox="1"/>
          <p:nvPr/>
        </p:nvSpPr>
        <p:spPr>
          <a:xfrm>
            <a:off x="8631934" y="3621024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kleinen Suchraum definieren</a:t>
            </a:r>
          </a:p>
        </p:txBody>
      </p:sp>
      <p:sp>
        <p:nvSpPr>
          <p:cNvPr id="35" name="Shape 35"/>
          <p:cNvSpPr/>
          <p:nvPr/>
        </p:nvSpPr>
        <p:spPr>
          <a:xfrm>
            <a:off x="8485630" y="4103370"/>
            <a:ext cx="82296" cy="82296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ext 36"/>
          <p:cNvSpPr txBox="1"/>
          <p:nvPr/>
        </p:nvSpPr>
        <p:spPr>
          <a:xfrm>
            <a:off x="8631934" y="4030218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Kernel aus Templates generieren</a:t>
            </a:r>
          </a:p>
        </p:txBody>
      </p:sp>
      <p:sp>
        <p:nvSpPr>
          <p:cNvPr id="37" name="Shape 37"/>
          <p:cNvSpPr/>
          <p:nvPr/>
        </p:nvSpPr>
        <p:spPr>
          <a:xfrm>
            <a:off x="8485630" y="4596104"/>
            <a:ext cx="82296" cy="82296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Text 38"/>
          <p:cNvSpPr txBox="1"/>
          <p:nvPr/>
        </p:nvSpPr>
        <p:spPr>
          <a:xfrm>
            <a:off x="8631934" y="4522952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Mit do_bench messen</a:t>
            </a:r>
          </a:p>
        </p:txBody>
      </p:sp>
      <p:sp>
        <p:nvSpPr>
          <p:cNvPr id="39" name="Shape 39"/>
          <p:cNvSpPr/>
          <p:nvPr/>
        </p:nvSpPr>
        <p:spPr>
          <a:xfrm>
            <a:off x="8485630" y="5005298"/>
            <a:ext cx="82296" cy="82296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Text 40"/>
          <p:cNvSpPr txBox="1"/>
          <p:nvPr/>
        </p:nvSpPr>
        <p:spPr>
          <a:xfrm>
            <a:off x="8631934" y="4932146"/>
            <a:ext cx="2432304" cy="40919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500" b="0">
                <a:solidFill>
                  <a:srgbClr val="1F2937"/>
                </a:solidFill>
                <a:latin typeface="Aptos"/>
              </a:rPr>
              <a:t>Beste Config + Top-k ausgeben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000" b="1">
                <a:solidFill>
                  <a:srgbClr val="2FB7A0"/>
                </a:solidFill>
                <a:latin typeface="Aptos"/>
              </a:rPr>
              <a:t>Idee B · GPU / cuTile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3035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700" b="1">
                <a:solidFill>
                  <a:srgbClr val="12263A"/>
                </a:solidFill>
                <a:latin typeface="Aptos"/>
              </a:rPr>
              <a:t>Vorlesungsbasis: Config statt Kernel-Magie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33856"/>
            <a:ext cx="11155680" cy="0"/>
          </a:xfrm>
          <a:prstGeom prst="line">
            <a:avLst/>
          </a:prstGeom>
          <a:ln w="9525">
            <a:solidFill>
              <a:srgbClr val="D7DEE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58368" y="1353312"/>
            <a:ext cx="479145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600" b="0" dirty="0">
                <a:solidFill>
                  <a:srgbClr val="64748B"/>
                </a:solidFill>
                <a:latin typeface="Aptos"/>
              </a:rPr>
              <a:t>Die Vorlesung motiviert genau diese Projektidee: komplexe Optimierungslogik soll aus dem Kernel heraus und in eine abstrakte Konfiguration wandern.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2258568"/>
            <a:ext cx="4343400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877824" y="2258568"/>
            <a:ext cx="3844647" cy="91440"/>
          </a:xfrm>
          <a:prstGeom prst="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033272" y="2558092"/>
            <a:ext cx="82296" cy="82296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179576" y="2484940"/>
            <a:ext cx="3410712" cy="332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 dirty="0" err="1">
                <a:solidFill>
                  <a:srgbClr val="1F2937"/>
                </a:solidFill>
                <a:latin typeface="Aptos"/>
              </a:rPr>
              <a:t>Configuration</a:t>
            </a:r>
            <a:r>
              <a:rPr lang="de-DE" sz="1400" b="0" dirty="0">
                <a:solidFill>
                  <a:srgbClr val="1F2937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1F2937"/>
                </a:solidFill>
                <a:latin typeface="Aptos"/>
              </a:rPr>
              <a:t>Builder</a:t>
            </a:r>
            <a:r>
              <a:rPr lang="de-DE" sz="1400" b="0" dirty="0">
                <a:solidFill>
                  <a:srgbClr val="1F2937"/>
                </a:solidFill>
                <a:latin typeface="Aptos"/>
              </a:rPr>
              <a:t> beschreibt die Kontraktion</a:t>
            </a:r>
          </a:p>
        </p:txBody>
      </p:sp>
      <p:sp>
        <p:nvSpPr>
          <p:cNvPr id="10" name="Shape 10"/>
          <p:cNvSpPr/>
          <p:nvPr/>
        </p:nvSpPr>
        <p:spPr>
          <a:xfrm>
            <a:off x="1033272" y="3066288"/>
            <a:ext cx="82296" cy="82296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1179576" y="2993136"/>
            <a:ext cx="3410712" cy="332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Optimizer verändert Split, Permutation und Exec-Typen</a:t>
            </a:r>
          </a:p>
        </p:txBody>
      </p:sp>
      <p:sp>
        <p:nvSpPr>
          <p:cNvPr id="12" name="Shape 12"/>
          <p:cNvSpPr/>
          <p:nvPr/>
        </p:nvSpPr>
        <p:spPr>
          <a:xfrm>
            <a:off x="1033272" y="3552444"/>
            <a:ext cx="82296" cy="82296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 13"/>
          <p:cNvSpPr txBox="1"/>
          <p:nvPr/>
        </p:nvSpPr>
        <p:spPr>
          <a:xfrm>
            <a:off x="1179576" y="3479292"/>
            <a:ext cx="3410712" cy="332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 dirty="0">
                <a:solidFill>
                  <a:srgbClr val="1F2937"/>
                </a:solidFill>
                <a:latin typeface="Aptos"/>
              </a:rPr>
              <a:t>Kernel bleibt einfacher und messbar vergleichbar</a:t>
            </a:r>
          </a:p>
        </p:txBody>
      </p:sp>
      <p:sp>
        <p:nvSpPr>
          <p:cNvPr id="14" name="Shape 14"/>
          <p:cNvSpPr/>
          <p:nvPr/>
        </p:nvSpPr>
        <p:spPr>
          <a:xfrm>
            <a:off x="5596128" y="1298448"/>
            <a:ext cx="2606040" cy="2788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5" name="Lecture 05: Optimization Logic outside the Kernel" descr="Lecture 05: Optimization Logic outside the Kern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426464"/>
            <a:ext cx="2313432" cy="2313432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5733288" y="3767328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700" b="0">
                <a:solidFill>
                  <a:srgbClr val="64748B"/>
                </a:solidFill>
                <a:latin typeface="Aptos"/>
              </a:rPr>
              <a:t>Lecture 05, Folie 15</a:t>
            </a:r>
          </a:p>
        </p:txBody>
      </p:sp>
      <p:sp>
        <p:nvSpPr>
          <p:cNvPr id="17" name="Shape 17"/>
          <p:cNvSpPr/>
          <p:nvPr/>
        </p:nvSpPr>
        <p:spPr>
          <a:xfrm>
            <a:off x="8439912" y="1307592"/>
            <a:ext cx="3063240" cy="2788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 18"/>
          <p:cNvSpPr txBox="1"/>
          <p:nvPr/>
        </p:nvSpPr>
        <p:spPr>
          <a:xfrm>
            <a:off x="8705088" y="16276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800" b="1">
                <a:solidFill>
                  <a:srgbClr val="12263A"/>
                </a:solidFill>
                <a:latin typeface="Aptos"/>
              </a:rPr>
              <a:t>Projekt-Erweiterung</a:t>
            </a:r>
          </a:p>
        </p:txBody>
      </p:sp>
      <p:sp>
        <p:nvSpPr>
          <p:cNvPr id="19" name="Shape 19"/>
          <p:cNvSpPr/>
          <p:nvPr/>
        </p:nvSpPr>
        <p:spPr>
          <a:xfrm>
            <a:off x="8705088" y="2135105"/>
            <a:ext cx="82296" cy="82296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 20"/>
          <p:cNvSpPr txBox="1"/>
          <p:nvPr/>
        </p:nvSpPr>
        <p:spPr>
          <a:xfrm>
            <a:off x="8851392" y="2061953"/>
            <a:ext cx="2176272" cy="3627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 dirty="0">
                <a:solidFill>
                  <a:srgbClr val="1F2937"/>
                </a:solidFill>
                <a:latin typeface="Aptos"/>
              </a:rPr>
              <a:t>Suchraum bewusst einschränken</a:t>
            </a:r>
          </a:p>
        </p:txBody>
      </p:sp>
      <p:sp>
        <p:nvSpPr>
          <p:cNvPr id="21" name="Shape 21"/>
          <p:cNvSpPr/>
          <p:nvPr/>
        </p:nvSpPr>
        <p:spPr>
          <a:xfrm>
            <a:off x="8705088" y="2615763"/>
            <a:ext cx="82296" cy="82296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ext 22"/>
          <p:cNvSpPr txBox="1"/>
          <p:nvPr/>
        </p:nvSpPr>
        <p:spPr>
          <a:xfrm>
            <a:off x="8851392" y="2542611"/>
            <a:ext cx="2176272" cy="3627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 dirty="0">
                <a:solidFill>
                  <a:srgbClr val="1F2937"/>
                </a:solidFill>
                <a:latin typeface="Aptos"/>
              </a:rPr>
              <a:t>Kernelvarianten aus Templates erzeugen</a:t>
            </a:r>
          </a:p>
        </p:txBody>
      </p:sp>
      <p:sp>
        <p:nvSpPr>
          <p:cNvPr id="23" name="Shape 23"/>
          <p:cNvSpPr/>
          <p:nvPr/>
        </p:nvSpPr>
        <p:spPr>
          <a:xfrm>
            <a:off x="8705088" y="3139440"/>
            <a:ext cx="82296" cy="82296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 24"/>
          <p:cNvSpPr txBox="1"/>
          <p:nvPr/>
        </p:nvSpPr>
        <p:spPr>
          <a:xfrm>
            <a:off x="8851392" y="3066288"/>
            <a:ext cx="2176272" cy="3627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 dirty="0">
                <a:solidFill>
                  <a:srgbClr val="1F2937"/>
                </a:solidFill>
                <a:latin typeface="Aptos"/>
              </a:rPr>
              <a:t>messen, ranken und speichern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705088" y="360273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100" b="1">
                <a:solidFill>
                  <a:srgbClr val="E45756"/>
                </a:solidFill>
                <a:latin typeface="Aptos"/>
              </a:rPr>
              <a:t>Config + Codegen + do_bench</a:t>
            </a:r>
          </a:p>
        </p:txBody>
      </p:sp>
      <p:sp>
        <p:nvSpPr>
          <p:cNvPr id="26" name="Shape 26"/>
          <p:cNvSpPr/>
          <p:nvPr/>
        </p:nvSpPr>
        <p:spPr>
          <a:xfrm>
            <a:off x="658368" y="4407407"/>
            <a:ext cx="10835640" cy="300038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7" name="Lecture 05: L2 reuse swizzling" descr="Lecture 05: L2 reuse swizzl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535424"/>
            <a:ext cx="7178040" cy="2872372"/>
          </a:xfrm>
          <a:prstGeom prst="rect">
            <a:avLst/>
          </a:prstGeom>
        </p:spPr>
      </p:pic>
      <p:sp>
        <p:nvSpPr>
          <p:cNvPr id="28" name="Text 28"/>
          <p:cNvSpPr txBox="1"/>
          <p:nvPr/>
        </p:nvSpPr>
        <p:spPr>
          <a:xfrm>
            <a:off x="8055864" y="4843851"/>
            <a:ext cx="2816352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500" b="1" dirty="0">
                <a:solidFill>
                  <a:srgbClr val="12263A"/>
                </a:solidFill>
                <a:latin typeface="Aptos"/>
              </a:rPr>
              <a:t>Der Auto-Tuner sucht genau solche Block-Reihenfolgen und Super-</a:t>
            </a:r>
            <a:r>
              <a:rPr lang="de-DE" sz="1500" b="1" dirty="0" err="1">
                <a:solidFill>
                  <a:srgbClr val="12263A"/>
                </a:solidFill>
                <a:latin typeface="Aptos"/>
              </a:rPr>
              <a:t>Tile</a:t>
            </a:r>
            <a:r>
              <a:rPr lang="de-DE" sz="1500" b="1" dirty="0">
                <a:solidFill>
                  <a:srgbClr val="12263A"/>
                </a:solidFill>
                <a:latin typeface="Aptos"/>
              </a:rPr>
              <a:t>-Größen, die L2-Reuse erzeugen.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065008" y="5968561"/>
            <a:ext cx="2351513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700" b="0" dirty="0" err="1">
                <a:solidFill>
                  <a:srgbClr val="64748B"/>
                </a:solidFill>
                <a:latin typeface="Aptos"/>
              </a:rPr>
              <a:t>Lecture</a:t>
            </a:r>
            <a:r>
              <a:rPr lang="de-DE" sz="700" b="0" dirty="0">
                <a:solidFill>
                  <a:srgbClr val="64748B"/>
                </a:solidFill>
                <a:latin typeface="Aptos"/>
              </a:rPr>
              <a:t> 05, Folie 33: L2-Reuse über Block-Queue / </a:t>
            </a:r>
            <a:r>
              <a:rPr lang="de-DE" sz="700" b="0" dirty="0" err="1">
                <a:solidFill>
                  <a:srgbClr val="64748B"/>
                </a:solidFill>
                <a:latin typeface="Aptos"/>
              </a:rPr>
              <a:t>Swizzling</a:t>
            </a:r>
            <a:endParaRPr lang="de-DE" sz="700" b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000" b="1">
                <a:solidFill>
                  <a:srgbClr val="2FB7A0"/>
                </a:solidFill>
                <a:latin typeface="Aptos"/>
              </a:rPr>
              <a:t>Idee B · GPU / cuTile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3035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700" b="1">
                <a:solidFill>
                  <a:srgbClr val="12263A"/>
                </a:solidFill>
                <a:latin typeface="Aptos"/>
              </a:rPr>
              <a:t>Ausgangspunkt aus Assignment 05 und 06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33856"/>
            <a:ext cx="11155680" cy="0"/>
          </a:xfrm>
          <a:prstGeom prst="line">
            <a:avLst/>
          </a:prstGeom>
          <a:ln w="9525">
            <a:solidFill>
              <a:srgbClr val="D7DEE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58367" y="1353312"/>
            <a:ext cx="9935741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600" b="0" dirty="0">
                <a:solidFill>
                  <a:srgbClr val="64748B"/>
                </a:solidFill>
                <a:latin typeface="Aptos"/>
              </a:rPr>
              <a:t>Wir haben bereits zwei realistische Testfälle mit </a:t>
            </a:r>
            <a:r>
              <a:rPr lang="de-DE" sz="1600" b="0" dirty="0" err="1">
                <a:solidFill>
                  <a:srgbClr val="64748B"/>
                </a:solidFill>
                <a:latin typeface="Aptos"/>
              </a:rPr>
              <a:t>Configs</a:t>
            </a:r>
            <a:r>
              <a:rPr lang="de-DE" sz="1600" b="0" dirty="0">
                <a:solidFill>
                  <a:srgbClr val="64748B"/>
                </a:solidFill>
                <a:latin typeface="Aptos"/>
              </a:rPr>
              <a:t>, Korrektheitschecks und Benchmarks.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1920240"/>
            <a:ext cx="5303520" cy="3566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179576" y="1920239"/>
            <a:ext cx="4261104" cy="128017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914400" y="217627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800" b="1">
                <a:solidFill>
                  <a:srgbClr val="12263A"/>
                </a:solidFill>
                <a:latin typeface="Aptos"/>
              </a:rPr>
              <a:t>Assignment 05 · Batched Matmul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14400" y="2633472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400" b="1">
                <a:solidFill>
                  <a:srgbClr val="2F80ED"/>
                </a:solidFill>
                <a:latin typeface="Aptos"/>
              </a:rPr>
              <a:t>cmk, ckn → cmn</a:t>
            </a:r>
          </a:p>
        </p:txBody>
      </p:sp>
      <p:sp>
        <p:nvSpPr>
          <p:cNvPr id="10" name="Shape 10"/>
          <p:cNvSpPr/>
          <p:nvPr/>
        </p:nvSpPr>
        <p:spPr>
          <a:xfrm>
            <a:off x="1033272" y="3447288"/>
            <a:ext cx="82296" cy="822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1179576" y="3374136"/>
            <a:ext cx="4325112" cy="3931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Shape: C=4, M=N=K=4096</a:t>
            </a:r>
          </a:p>
        </p:txBody>
      </p:sp>
      <p:sp>
        <p:nvSpPr>
          <p:cNvPr id="12" name="Shape 12"/>
          <p:cNvSpPr/>
          <p:nvPr/>
        </p:nvSpPr>
        <p:spPr>
          <a:xfrm>
            <a:off x="1033272" y="3840480"/>
            <a:ext cx="82296" cy="822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 13"/>
          <p:cNvSpPr txBox="1"/>
          <p:nvPr/>
        </p:nvSpPr>
        <p:spPr>
          <a:xfrm>
            <a:off x="1179576" y="3767328"/>
            <a:ext cx="4325112" cy="3931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Manuell: 128×128×64 Prim, 8×8 L2</a:t>
            </a:r>
          </a:p>
        </p:txBody>
      </p:sp>
      <p:sp>
        <p:nvSpPr>
          <p:cNvPr id="14" name="Shape 14"/>
          <p:cNvSpPr/>
          <p:nvPr/>
        </p:nvSpPr>
        <p:spPr>
          <a:xfrm>
            <a:off x="1033272" y="4233672"/>
            <a:ext cx="82296" cy="822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1179576" y="4160520"/>
            <a:ext cx="4325112" cy="3931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L2 A: 66.10 TFLOPS vs. Baseline: 38.60 TFLOPS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14400" y="4864608"/>
            <a:ext cx="4526280" cy="320040"/>
          </a:xfrm>
          <a:prstGeom prst="roundRect">
            <a:avLst/>
          </a:prstGeom>
          <a:solidFill>
            <a:srgbClr val="EAF7F4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2100" b="1">
                <a:solidFill>
                  <a:srgbClr val="4E937A"/>
                </a:solidFill>
                <a:latin typeface="Aptos"/>
              </a:rPr>
              <a:t>Speedup: 1.71×</a:t>
            </a:r>
          </a:p>
        </p:txBody>
      </p:sp>
      <p:sp>
        <p:nvSpPr>
          <p:cNvPr id="17" name="Shape 17"/>
          <p:cNvSpPr/>
          <p:nvPr/>
        </p:nvSpPr>
        <p:spPr>
          <a:xfrm>
            <a:off x="6263640" y="1920240"/>
            <a:ext cx="5303520" cy="3566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720840" y="1920240"/>
            <a:ext cx="4325112" cy="128015"/>
          </a:xfrm>
          <a:prstGeom prst="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519672" y="217627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800" b="1">
                <a:solidFill>
                  <a:srgbClr val="12263A"/>
                </a:solidFill>
                <a:latin typeface="Aptos"/>
              </a:rPr>
              <a:t>Assignment 06 · Tensor-Ring / Lightfield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519672" y="2633472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400" b="1">
                <a:solidFill>
                  <a:srgbClr val="2FB7A0"/>
                </a:solidFill>
                <a:latin typeface="Aptos"/>
              </a:rPr>
              <a:t>acspx, bspy → abcyx</a:t>
            </a:r>
          </a:p>
        </p:txBody>
      </p:sp>
      <p:sp>
        <p:nvSpPr>
          <p:cNvPr id="21" name="Shape 21"/>
          <p:cNvSpPr/>
          <p:nvPr/>
        </p:nvSpPr>
        <p:spPr>
          <a:xfrm>
            <a:off x="6638544" y="3447288"/>
            <a:ext cx="82296" cy="82296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ext 22"/>
          <p:cNvSpPr txBox="1"/>
          <p:nvPr/>
        </p:nvSpPr>
        <p:spPr>
          <a:xfrm>
            <a:off x="6784848" y="3374136"/>
            <a:ext cx="4325112" cy="3931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A: (4,3,64,64,1536), B: (4,64,64,1152)</a:t>
            </a:r>
          </a:p>
        </p:txBody>
      </p:sp>
      <p:sp>
        <p:nvSpPr>
          <p:cNvPr id="23" name="Shape 23"/>
          <p:cNvSpPr/>
          <p:nvPr/>
        </p:nvSpPr>
        <p:spPr>
          <a:xfrm>
            <a:off x="6638544" y="3840480"/>
            <a:ext cx="82296" cy="82296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 24"/>
          <p:cNvSpPr txBox="1"/>
          <p:nvPr/>
        </p:nvSpPr>
        <p:spPr>
          <a:xfrm>
            <a:off x="6784848" y="3767328"/>
            <a:ext cx="4325112" cy="3931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Zwei Reduktionsdimensionen: s und p</a:t>
            </a:r>
          </a:p>
        </p:txBody>
      </p:sp>
      <p:sp>
        <p:nvSpPr>
          <p:cNvPr id="25" name="Shape 25"/>
          <p:cNvSpPr/>
          <p:nvPr/>
        </p:nvSpPr>
        <p:spPr>
          <a:xfrm>
            <a:off x="6638544" y="4233672"/>
            <a:ext cx="82296" cy="82296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 26"/>
          <p:cNvSpPr txBox="1"/>
          <p:nvPr/>
        </p:nvSpPr>
        <p:spPr>
          <a:xfrm>
            <a:off x="6784848" y="4160520"/>
            <a:ext cx="4325112" cy="3931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cuTile: 49.84 TFLOPS vs. torch.einsum: 16.18 TFLOPS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519672" y="4864608"/>
            <a:ext cx="4526280" cy="320040"/>
          </a:xfrm>
          <a:prstGeom prst="roundRect">
            <a:avLst/>
          </a:prstGeom>
          <a:solidFill>
            <a:srgbClr val="EAF7F4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2100" b="1">
                <a:solidFill>
                  <a:srgbClr val="4E937A"/>
                </a:solidFill>
                <a:latin typeface="Aptos"/>
              </a:rPr>
              <a:t>Speedup: 3.08×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000" b="1">
                <a:solidFill>
                  <a:srgbClr val="2FB7A0"/>
                </a:solidFill>
                <a:latin typeface="Aptos"/>
              </a:rPr>
              <a:t>Idee B · GPU / cuTile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30352"/>
            <a:ext cx="860635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700" b="1" dirty="0">
                <a:solidFill>
                  <a:srgbClr val="12263A"/>
                </a:solidFill>
                <a:latin typeface="Aptos"/>
              </a:rPr>
              <a:t>Vorgeschlagene Lösung: begrenzter Auto-Tuning Loop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33856"/>
            <a:ext cx="11155680" cy="0"/>
          </a:xfrm>
          <a:prstGeom prst="line">
            <a:avLst/>
          </a:prstGeom>
          <a:ln w="9525">
            <a:solidFill>
              <a:srgbClr val="D7DEE8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658368" y="1691640"/>
            <a:ext cx="1609344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 6"/>
          <p:cNvSpPr txBox="1"/>
          <p:nvPr/>
        </p:nvSpPr>
        <p:spPr>
          <a:xfrm>
            <a:off x="768096" y="1801368"/>
            <a:ext cx="320040" cy="32004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68096" y="21945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Einsum + Shapes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68096" y="2514600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>
                <a:solidFill>
                  <a:srgbClr val="64748B"/>
                </a:solidFill>
                <a:latin typeface="Aptos"/>
              </a:rPr>
              <a:t>z.B. cmk,ckn→cmn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2313432" y="2304288"/>
            <a:ext cx="155448" cy="0"/>
          </a:xfrm>
          <a:prstGeom prst="line">
            <a:avLst/>
          </a:prstGeom>
          <a:ln w="14288">
            <a:solidFill>
              <a:srgbClr val="D7DEE8"/>
            </a:solidFill>
            <a:tailEnd type="triangle"/>
          </a:ln>
        </p:spPr>
      </p:cxnSp>
      <p:sp>
        <p:nvSpPr>
          <p:cNvPr id="10" name="Shape 10"/>
          <p:cNvSpPr/>
          <p:nvPr/>
        </p:nvSpPr>
        <p:spPr>
          <a:xfrm>
            <a:off x="2514599" y="1691640"/>
            <a:ext cx="1609344" cy="1234440"/>
          </a:xfrm>
          <a:prstGeom prst="roundRect">
            <a:avLst/>
          </a:prstGeom>
          <a:solidFill>
            <a:srgbClr val="F1FAF8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2624327" y="1801368"/>
            <a:ext cx="320040" cy="320040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2624327" y="21945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Basic Config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2624327" y="2514600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>
                <a:solidFill>
                  <a:srgbClr val="64748B"/>
                </a:solidFill>
                <a:latin typeface="Aptos"/>
              </a:rPr>
              <a:t>Dim-Typen + Strides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4169663" y="2304288"/>
            <a:ext cx="155448" cy="0"/>
          </a:xfrm>
          <a:prstGeom prst="line">
            <a:avLst/>
          </a:prstGeom>
          <a:ln w="14288">
            <a:solidFill>
              <a:srgbClr val="D7DEE8"/>
            </a:solidFill>
            <a:tailEnd type="triangle"/>
          </a:ln>
        </p:spPr>
      </p:cxnSp>
      <p:sp>
        <p:nvSpPr>
          <p:cNvPr id="15" name="Shape 15"/>
          <p:cNvSpPr/>
          <p:nvPr/>
        </p:nvSpPr>
        <p:spPr>
          <a:xfrm>
            <a:off x="4370830" y="1691640"/>
            <a:ext cx="1609344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Text 16"/>
          <p:cNvSpPr txBox="1"/>
          <p:nvPr/>
        </p:nvSpPr>
        <p:spPr>
          <a:xfrm>
            <a:off x="4480558" y="1801368"/>
            <a:ext cx="320040" cy="320040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480558" y="21945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Kandidaten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480558" y="2514600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>
                <a:solidFill>
                  <a:srgbClr val="64748B"/>
                </a:solidFill>
                <a:latin typeface="Aptos"/>
              </a:rPr>
              <a:t>kleiner Split-Suchraum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6025894" y="2304288"/>
            <a:ext cx="155448" cy="0"/>
          </a:xfrm>
          <a:prstGeom prst="line">
            <a:avLst/>
          </a:prstGeom>
          <a:ln w="14288">
            <a:solidFill>
              <a:srgbClr val="D7DEE8"/>
            </a:solidFill>
            <a:tailEnd type="triangle"/>
          </a:ln>
        </p:spPr>
      </p:cxnSp>
      <p:sp>
        <p:nvSpPr>
          <p:cNvPr id="20" name="Shape 20"/>
          <p:cNvSpPr/>
          <p:nvPr/>
        </p:nvSpPr>
        <p:spPr>
          <a:xfrm>
            <a:off x="6227061" y="1691640"/>
            <a:ext cx="1609344" cy="1234440"/>
          </a:xfrm>
          <a:prstGeom prst="roundRect">
            <a:avLst/>
          </a:prstGeom>
          <a:solidFill>
            <a:srgbClr val="F1FAF8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 21"/>
          <p:cNvSpPr txBox="1"/>
          <p:nvPr/>
        </p:nvSpPr>
        <p:spPr>
          <a:xfrm>
            <a:off x="6336789" y="1801368"/>
            <a:ext cx="320040" cy="32004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336789" y="21945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Codegen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336789" y="2514600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>
                <a:solidFill>
                  <a:srgbClr val="64748B"/>
                </a:solidFill>
                <a:latin typeface="Aptos"/>
              </a:rPr>
              <a:t>cuTile Template füllen</a:t>
            </a:r>
          </a:p>
        </p:txBody>
      </p:sp>
      <p:cxnSp>
        <p:nvCxnSpPr>
          <p:cNvPr id="24" name="Line 24"/>
          <p:cNvCxnSpPr/>
          <p:nvPr/>
        </p:nvCxnSpPr>
        <p:spPr>
          <a:xfrm>
            <a:off x="7882125" y="2304288"/>
            <a:ext cx="155448" cy="0"/>
          </a:xfrm>
          <a:prstGeom prst="line">
            <a:avLst/>
          </a:prstGeom>
          <a:ln w="14288">
            <a:solidFill>
              <a:srgbClr val="D7DEE8"/>
            </a:solidFill>
            <a:tailEnd type="triangle"/>
          </a:ln>
        </p:spPr>
      </p:cxnSp>
      <p:sp>
        <p:nvSpPr>
          <p:cNvPr id="25" name="Shape 25"/>
          <p:cNvSpPr/>
          <p:nvPr/>
        </p:nvSpPr>
        <p:spPr>
          <a:xfrm>
            <a:off x="8083292" y="1691640"/>
            <a:ext cx="1609344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 26"/>
          <p:cNvSpPr txBox="1"/>
          <p:nvPr/>
        </p:nvSpPr>
        <p:spPr>
          <a:xfrm>
            <a:off x="8193020" y="1801368"/>
            <a:ext cx="320040" cy="320040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193020" y="21945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Benchmark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193020" y="2514600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>
                <a:solidFill>
                  <a:srgbClr val="64748B"/>
                </a:solidFill>
                <a:latin typeface="Aptos"/>
              </a:rPr>
              <a:t>verify + do_bench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9738356" y="2304288"/>
            <a:ext cx="155448" cy="0"/>
          </a:xfrm>
          <a:prstGeom prst="line">
            <a:avLst/>
          </a:prstGeom>
          <a:ln w="14288">
            <a:solidFill>
              <a:srgbClr val="D7DEE8"/>
            </a:solidFill>
            <a:tailEnd type="triangle"/>
          </a:ln>
        </p:spPr>
      </p:cxnSp>
      <p:sp>
        <p:nvSpPr>
          <p:cNvPr id="30" name="Shape 30"/>
          <p:cNvSpPr/>
          <p:nvPr/>
        </p:nvSpPr>
        <p:spPr>
          <a:xfrm>
            <a:off x="9939523" y="1691640"/>
            <a:ext cx="1609344" cy="1234440"/>
          </a:xfrm>
          <a:prstGeom prst="roundRect">
            <a:avLst/>
          </a:prstGeom>
          <a:solidFill>
            <a:srgbClr val="F1FAF8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10049251" y="1801368"/>
            <a:ext cx="320040" cy="320040"/>
          </a:xfrm>
          <a:prstGeom prst="roundRect">
            <a:avLst/>
          </a:prstGeom>
          <a:solidFill>
            <a:srgbClr val="4E937A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0049251" y="21945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Best Config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0049251" y="2514600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>
                <a:solidFill>
                  <a:srgbClr val="64748B"/>
                </a:solidFill>
                <a:latin typeface="Aptos"/>
              </a:rPr>
              <a:t>Top-k + Cache</a:t>
            </a:r>
          </a:p>
        </p:txBody>
      </p:sp>
      <p:sp>
        <p:nvSpPr>
          <p:cNvPr id="34" name="Shape 34"/>
          <p:cNvSpPr/>
          <p:nvPr/>
        </p:nvSpPr>
        <p:spPr>
          <a:xfrm>
            <a:off x="658368" y="3657600"/>
            <a:ext cx="5212080" cy="215010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 35"/>
          <p:cNvSpPr txBox="1"/>
          <p:nvPr/>
        </p:nvSpPr>
        <p:spPr>
          <a:xfrm>
            <a:off x="914400" y="3913632"/>
            <a:ext cx="4709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800" b="1">
                <a:solidFill>
                  <a:srgbClr val="12263A"/>
                </a:solidFill>
                <a:latin typeface="Aptos"/>
              </a:rPr>
              <a:t>Suchraum: bewusst klein halten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914400" y="4407408"/>
            <a:ext cx="2057400" cy="29260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M/N Prim: 64, 128, 256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3136392" y="4407408"/>
            <a:ext cx="1874519" cy="292608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K Prim: 32, 64, 128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914400" y="4864608"/>
            <a:ext cx="1143000" cy="29260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12263A"/>
                </a:solidFill>
                <a:latin typeface="Aptos"/>
              </a:rPr>
              <a:t>L2: 2, 4, 8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2221992" y="4864608"/>
            <a:ext cx="2468880" cy="292608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nur gültige PAR/SEQ/PRIM-Muster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914400" y="5321808"/>
            <a:ext cx="1325880" cy="292608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Padding erlaubt</a:t>
            </a:r>
          </a:p>
        </p:txBody>
      </p:sp>
      <p:sp>
        <p:nvSpPr>
          <p:cNvPr id="41" name="Shape 41"/>
          <p:cNvSpPr/>
          <p:nvPr/>
        </p:nvSpPr>
        <p:spPr>
          <a:xfrm>
            <a:off x="6263640" y="3657600"/>
            <a:ext cx="5303520" cy="2150105"/>
          </a:xfrm>
          <a:prstGeom prst="roundRect">
            <a:avLst/>
          </a:prstGeom>
          <a:solidFill>
            <a:srgbClr val="FFF8ED"/>
          </a:solidFill>
          <a:ln w="11430">
            <a:solidFill>
              <a:srgbClr val="F4D59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Text 42"/>
          <p:cNvSpPr txBox="1"/>
          <p:nvPr/>
        </p:nvSpPr>
        <p:spPr>
          <a:xfrm>
            <a:off x="6519672" y="391363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800" b="1">
                <a:solidFill>
                  <a:srgbClr val="12263A"/>
                </a:solidFill>
                <a:latin typeface="Aptos"/>
              </a:rPr>
              <a:t>Scope-Entscheidung</a:t>
            </a:r>
          </a:p>
        </p:txBody>
      </p:sp>
      <p:sp>
        <p:nvSpPr>
          <p:cNvPr id="43" name="Shape 43"/>
          <p:cNvSpPr/>
          <p:nvPr/>
        </p:nvSpPr>
        <p:spPr>
          <a:xfrm>
            <a:off x="6638544" y="4544568"/>
            <a:ext cx="82296" cy="82296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ext 44"/>
          <p:cNvSpPr txBox="1"/>
          <p:nvPr/>
        </p:nvSpPr>
        <p:spPr>
          <a:xfrm>
            <a:off x="6784848" y="4471416"/>
            <a:ext cx="4325112" cy="2407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kein allgemeiner Tensor-Compiler</a:t>
            </a:r>
          </a:p>
        </p:txBody>
      </p:sp>
      <p:sp>
        <p:nvSpPr>
          <p:cNvPr id="45" name="Shape 45"/>
          <p:cNvSpPr/>
          <p:nvPr/>
        </p:nvSpPr>
        <p:spPr>
          <a:xfrm>
            <a:off x="6638544" y="4785360"/>
            <a:ext cx="82296" cy="82296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Text 46"/>
          <p:cNvSpPr txBox="1"/>
          <p:nvPr/>
        </p:nvSpPr>
        <p:spPr>
          <a:xfrm>
            <a:off x="6784848" y="4712208"/>
            <a:ext cx="4325112" cy="2407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zuerst zwei-input GEMM-artige Kontraktionen</a:t>
            </a:r>
          </a:p>
        </p:txBody>
      </p:sp>
      <p:sp>
        <p:nvSpPr>
          <p:cNvPr id="47" name="Shape 47"/>
          <p:cNvSpPr/>
          <p:nvPr/>
        </p:nvSpPr>
        <p:spPr>
          <a:xfrm>
            <a:off x="6638544" y="5026152"/>
            <a:ext cx="82296" cy="82296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Text 48"/>
          <p:cNvSpPr txBox="1"/>
          <p:nvPr/>
        </p:nvSpPr>
        <p:spPr>
          <a:xfrm>
            <a:off x="6784848" y="4953000"/>
            <a:ext cx="4325112" cy="2407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Kernel-Template statt beliebigem Codegen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000" b="1">
                <a:solidFill>
                  <a:srgbClr val="2FB7A0"/>
                </a:solidFill>
                <a:latin typeface="Aptos"/>
              </a:rPr>
              <a:t>Idee B · GPU / cuTile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3035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700" b="1">
                <a:solidFill>
                  <a:srgbClr val="12263A"/>
                </a:solidFill>
                <a:latin typeface="Aptos"/>
              </a:rPr>
              <a:t>Suchraum eingrenzen und gezielt durchsuchen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33856"/>
            <a:ext cx="11155680" cy="0"/>
          </a:xfrm>
          <a:prstGeom prst="line">
            <a:avLst/>
          </a:prstGeom>
          <a:ln w="9525">
            <a:solidFill>
              <a:srgbClr val="D7DEE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600" b="0">
                <a:solidFill>
                  <a:srgbClr val="64748B"/>
                </a:solidFill>
                <a:latin typeface="Aptos"/>
              </a:rPr>
              <a:t>Antwort auf das Feedback: Wir grenzen den Raum hart auf hardware-sinnvolle Werte ein und durchsuchen ihn in zwei Stufen - erst billig statisch filtern, dann nur die Besten messen.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1965960"/>
            <a:ext cx="3977639" cy="42612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133856" y="1965960"/>
            <a:ext cx="2975157" cy="10790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960120" y="2221992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800" b="1" dirty="0">
                <a:solidFill>
                  <a:srgbClr val="12263A"/>
                </a:solidFill>
                <a:latin typeface="Aptos"/>
              </a:rPr>
              <a:t>Wie groß ist der Raum?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68680" y="265176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200" b="0">
                <a:solidFill>
                  <a:srgbClr val="64748B"/>
                </a:solidFill>
                <a:latin typeface="Aptos"/>
              </a:rPr>
              <a:t>Knöpfe je Konfiguration</a:t>
            </a:r>
          </a:p>
        </p:txBody>
      </p:sp>
      <p:sp>
        <p:nvSpPr>
          <p:cNvPr id="10" name="Shape 10"/>
          <p:cNvSpPr/>
          <p:nvPr/>
        </p:nvSpPr>
        <p:spPr>
          <a:xfrm>
            <a:off x="987552" y="3127248"/>
            <a:ext cx="82296" cy="82296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1133856" y="3054096"/>
            <a:ext cx="3182112" cy="290779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M-Prim: 64 / 128 / 256</a:t>
            </a:r>
          </a:p>
        </p:txBody>
      </p:sp>
      <p:sp>
        <p:nvSpPr>
          <p:cNvPr id="12" name="Shape 12"/>
          <p:cNvSpPr/>
          <p:nvPr/>
        </p:nvSpPr>
        <p:spPr>
          <a:xfrm>
            <a:off x="987552" y="3418027"/>
            <a:ext cx="82296" cy="82296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 13"/>
          <p:cNvSpPr txBox="1"/>
          <p:nvPr/>
        </p:nvSpPr>
        <p:spPr>
          <a:xfrm>
            <a:off x="1133856" y="3344875"/>
            <a:ext cx="3182112" cy="290779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N-Prim: 64 / 128 / 256</a:t>
            </a:r>
          </a:p>
        </p:txBody>
      </p:sp>
      <p:sp>
        <p:nvSpPr>
          <p:cNvPr id="14" name="Shape 14"/>
          <p:cNvSpPr/>
          <p:nvPr/>
        </p:nvSpPr>
        <p:spPr>
          <a:xfrm>
            <a:off x="987552" y="3708806"/>
            <a:ext cx="82296" cy="82296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1133856" y="3635654"/>
            <a:ext cx="3182112" cy="290779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K-Prim: 32 / 64 / 128</a:t>
            </a:r>
          </a:p>
        </p:txBody>
      </p:sp>
      <p:sp>
        <p:nvSpPr>
          <p:cNvPr id="16" name="Shape 16"/>
          <p:cNvSpPr/>
          <p:nvPr/>
        </p:nvSpPr>
        <p:spPr>
          <a:xfrm>
            <a:off x="987552" y="3999585"/>
            <a:ext cx="82296" cy="82296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 17"/>
          <p:cNvSpPr txBox="1"/>
          <p:nvPr/>
        </p:nvSpPr>
        <p:spPr>
          <a:xfrm>
            <a:off x="1133856" y="3926433"/>
            <a:ext cx="3182112" cy="290779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L2-Faktor: 2 / 4 / 8</a:t>
            </a:r>
          </a:p>
        </p:txBody>
      </p:sp>
      <p:sp>
        <p:nvSpPr>
          <p:cNvPr id="18" name="Shape 18"/>
          <p:cNvSpPr/>
          <p:nvPr/>
        </p:nvSpPr>
        <p:spPr>
          <a:xfrm>
            <a:off x="987552" y="4290364"/>
            <a:ext cx="82296" cy="82296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1133856" y="4217212"/>
            <a:ext cx="3182112" cy="290779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de-DE" sz="1400" b="0">
                <a:solidFill>
                  <a:srgbClr val="1F2937"/>
                </a:solidFill>
                <a:latin typeface="Aptos"/>
              </a:rPr>
              <a:t>Exec/Swizzle: nur gültige Muster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41248" y="4709160"/>
            <a:ext cx="3611880" cy="457200"/>
          </a:xfrm>
          <a:prstGeom prst="roundRect">
            <a:avLst/>
          </a:prstGeom>
          <a:solidFill>
            <a:srgbClr val="EAF7F4"/>
          </a:solidFill>
          <a:ln w="11430">
            <a:solidFill>
              <a:srgbClr val="BFE5DD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3·3·3·3 = 81 Tile-Kombos × Muster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41248" y="5434753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de-DE" sz="1100" b="0" dirty="0">
                <a:solidFill>
                  <a:srgbClr val="64748B"/>
                </a:solidFill>
                <a:latin typeface="Aptos"/>
              </a:rPr>
              <a:t>Ohne Eingrenzung: schnell tausende </a:t>
            </a:r>
            <a:r>
              <a:rPr lang="de-DE" sz="1100" b="0" dirty="0" err="1">
                <a:solidFill>
                  <a:srgbClr val="64748B"/>
                </a:solidFill>
                <a:latin typeface="Aptos"/>
              </a:rPr>
              <a:t>Configs</a:t>
            </a:r>
            <a:r>
              <a:rPr lang="de-DE" sz="1100" b="0" dirty="0">
                <a:solidFill>
                  <a:srgbClr val="64748B"/>
                </a:solidFill>
                <a:latin typeface="Aptos"/>
              </a:rPr>
              <a:t> - nicht in vertretbarer Zeit kompilierbar.</a:t>
            </a:r>
          </a:p>
        </p:txBody>
      </p:sp>
      <p:sp>
        <p:nvSpPr>
          <p:cNvPr id="22" name="Shape 22"/>
          <p:cNvSpPr/>
          <p:nvPr/>
        </p:nvSpPr>
        <p:spPr>
          <a:xfrm>
            <a:off x="4937760" y="1965959"/>
            <a:ext cx="6537960" cy="426120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5532118" y="1965960"/>
            <a:ext cx="5290211" cy="107900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 24"/>
          <p:cNvSpPr txBox="1"/>
          <p:nvPr/>
        </p:nvSpPr>
        <p:spPr>
          <a:xfrm>
            <a:off x="5303520" y="2221992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12263A"/>
                </a:solidFill>
                <a:latin typeface="Aptos"/>
              </a:rPr>
              <a:t>Zwei Stufen: erst billig filtern, dann messen</a:t>
            </a:r>
          </a:p>
        </p:txBody>
      </p:sp>
      <p:sp>
        <p:nvSpPr>
          <p:cNvPr id="25" name="Shape 25"/>
          <p:cNvSpPr/>
          <p:nvPr/>
        </p:nvSpPr>
        <p:spPr>
          <a:xfrm>
            <a:off x="5138928" y="2697480"/>
            <a:ext cx="4663440" cy="548640"/>
          </a:xfrm>
          <a:prstGeom prst="roundRect">
            <a:avLst/>
          </a:prstGeom>
          <a:solidFill>
            <a:srgbClr val="F7FB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 26"/>
          <p:cNvSpPr txBox="1"/>
          <p:nvPr/>
        </p:nvSpPr>
        <p:spPr>
          <a:xfrm>
            <a:off x="5248656" y="2788920"/>
            <a:ext cx="365760" cy="36576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5715000" y="2752344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Enumerieren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715000" y="299008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>
                <a:solidFill>
                  <a:srgbClr val="64748B"/>
                </a:solidFill>
                <a:latin typeface="Aptos"/>
              </a:rPr>
              <a:t>alle 81 Tile-Kombos × gültige PAR/SEQ/PRIM-Muster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9966960" y="2825496"/>
            <a:ext cx="1280160" cy="29260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hunderte</a:t>
            </a:r>
          </a:p>
        </p:txBody>
      </p:sp>
      <p:cxnSp>
        <p:nvCxnSpPr>
          <p:cNvPr id="30" name="Line 30"/>
          <p:cNvCxnSpPr/>
          <p:nvPr/>
        </p:nvCxnSpPr>
        <p:spPr>
          <a:xfrm>
            <a:off x="7470648" y="3246120"/>
            <a:ext cx="0" cy="182880"/>
          </a:xfrm>
          <a:prstGeom prst="line">
            <a:avLst/>
          </a:prstGeom>
          <a:ln w="12700">
            <a:solidFill>
              <a:srgbClr val="64748B"/>
            </a:solidFill>
            <a:tailEnd type="triangle"/>
          </a:ln>
        </p:spPr>
      </p:cxnSp>
      <p:sp>
        <p:nvSpPr>
          <p:cNvPr id="31" name="Shape 31"/>
          <p:cNvSpPr/>
          <p:nvPr/>
        </p:nvSpPr>
        <p:spPr>
          <a:xfrm>
            <a:off x="5138928" y="3429000"/>
            <a:ext cx="4663440" cy="548640"/>
          </a:xfrm>
          <a:prstGeom prst="roundRect">
            <a:avLst/>
          </a:prstGeom>
          <a:solidFill>
            <a:srgbClr val="F1FAF8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 32"/>
          <p:cNvSpPr txBox="1"/>
          <p:nvPr/>
        </p:nvSpPr>
        <p:spPr>
          <a:xfrm>
            <a:off x="5248656" y="3520440"/>
            <a:ext cx="365760" cy="365760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715000" y="3483864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Statisch prunen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715000" y="372160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>
                <a:solidFill>
                  <a:srgbClr val="64748B"/>
                </a:solidFill>
                <a:latin typeface="Aptos"/>
              </a:rPr>
              <a:t>Shared-Mem, Register &amp; Teilbarkeit - vor dem Compile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9966960" y="3557016"/>
            <a:ext cx="1280160" cy="292608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≈ 40-60</a:t>
            </a:r>
          </a:p>
        </p:txBody>
      </p:sp>
      <p:cxnSp>
        <p:nvCxnSpPr>
          <p:cNvPr id="36" name="Line 36"/>
          <p:cNvCxnSpPr/>
          <p:nvPr/>
        </p:nvCxnSpPr>
        <p:spPr>
          <a:xfrm>
            <a:off x="7470648" y="3977640"/>
            <a:ext cx="0" cy="182880"/>
          </a:xfrm>
          <a:prstGeom prst="line">
            <a:avLst/>
          </a:prstGeom>
          <a:ln w="12700">
            <a:solidFill>
              <a:srgbClr val="64748B"/>
            </a:solidFill>
            <a:tailEnd type="triangle"/>
          </a:ln>
        </p:spPr>
      </p:cxnSp>
      <p:sp>
        <p:nvSpPr>
          <p:cNvPr id="37" name="Shape 37"/>
          <p:cNvSpPr/>
          <p:nvPr/>
        </p:nvSpPr>
        <p:spPr>
          <a:xfrm>
            <a:off x="5138928" y="4160520"/>
            <a:ext cx="4663440" cy="548640"/>
          </a:xfrm>
          <a:prstGeom prst="roundRect">
            <a:avLst/>
          </a:prstGeom>
          <a:solidFill>
            <a:srgbClr val="F7FB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Text 38"/>
          <p:cNvSpPr txBox="1"/>
          <p:nvPr/>
        </p:nvSpPr>
        <p:spPr>
          <a:xfrm>
            <a:off x="5248656" y="4251960"/>
            <a:ext cx="365760" cy="365760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5715000" y="4215384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Analytisch ranken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715000" y="445312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>
                <a:solidFill>
                  <a:srgbClr val="64748B"/>
                </a:solidFill>
                <a:latin typeface="Aptos"/>
              </a:rPr>
              <a:t>Kostenmodell: L2-Traffic / Arithmetic Intensity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9966960" y="4288536"/>
            <a:ext cx="1280160" cy="29260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12263A"/>
                </a:solidFill>
                <a:latin typeface="Aptos"/>
              </a:rPr>
              <a:t>Top-k</a:t>
            </a:r>
          </a:p>
        </p:txBody>
      </p:sp>
      <p:cxnSp>
        <p:nvCxnSpPr>
          <p:cNvPr id="42" name="Line 42"/>
          <p:cNvCxnSpPr/>
          <p:nvPr/>
        </p:nvCxnSpPr>
        <p:spPr>
          <a:xfrm>
            <a:off x="7470648" y="4709160"/>
            <a:ext cx="0" cy="182880"/>
          </a:xfrm>
          <a:prstGeom prst="line">
            <a:avLst/>
          </a:prstGeom>
          <a:ln w="12700">
            <a:solidFill>
              <a:srgbClr val="64748B"/>
            </a:solidFill>
            <a:tailEnd type="triangle"/>
          </a:ln>
        </p:spPr>
      </p:cxnSp>
      <p:sp>
        <p:nvSpPr>
          <p:cNvPr id="43" name="Shape 43"/>
          <p:cNvSpPr/>
          <p:nvPr/>
        </p:nvSpPr>
        <p:spPr>
          <a:xfrm>
            <a:off x="5138928" y="4892040"/>
            <a:ext cx="4663440" cy="548640"/>
          </a:xfrm>
          <a:prstGeom prst="roundRect">
            <a:avLst/>
          </a:prstGeom>
          <a:solidFill>
            <a:srgbClr val="F1FAF8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 44"/>
          <p:cNvSpPr txBox="1"/>
          <p:nvPr/>
        </p:nvSpPr>
        <p:spPr>
          <a:xfrm>
            <a:off x="5248656" y="4983480"/>
            <a:ext cx="365760" cy="365760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5715000" y="4946904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1">
                <a:solidFill>
                  <a:srgbClr val="12263A"/>
                </a:solidFill>
                <a:latin typeface="Aptos"/>
              </a:rPr>
              <a:t>Codegen &amp; Benchmark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5715000" y="518464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>
                <a:solidFill>
                  <a:srgbClr val="64748B"/>
                </a:solidFill>
                <a:latin typeface="Aptos"/>
              </a:rPr>
              <a:t>Template füllen → verify + do_bench, nur Top-k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9966960" y="5020056"/>
            <a:ext cx="1280160" cy="292608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1 Best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5138928" y="5660136"/>
            <a:ext cx="6035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100" b="1" dirty="0">
                <a:solidFill>
                  <a:srgbClr val="4E937A"/>
                </a:solidFill>
                <a:latin typeface="Aptos"/>
              </a:rPr>
              <a:t>Nur Top-</a:t>
            </a:r>
            <a:r>
              <a:rPr lang="de-DE" sz="1100" b="1" dirty="0" err="1">
                <a:solidFill>
                  <a:srgbClr val="4E937A"/>
                </a:solidFill>
                <a:latin typeface="Aptos"/>
              </a:rPr>
              <a:t>k</a:t>
            </a:r>
            <a:r>
              <a:rPr lang="de-DE" sz="1100" b="1" dirty="0">
                <a:solidFill>
                  <a:srgbClr val="4E937A"/>
                </a:solidFill>
                <a:latin typeface="Aptos"/>
              </a:rPr>
              <a:t> werden kompiliert und gemessen → Minuten statt Stunden.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000" b="1">
                <a:solidFill>
                  <a:srgbClr val="2FB7A0"/>
                </a:solidFill>
                <a:latin typeface="Aptos"/>
              </a:rPr>
              <a:t>Idee B · GPU / cuTile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3035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700" b="1">
                <a:solidFill>
                  <a:srgbClr val="12263A"/>
                </a:solidFill>
                <a:latin typeface="Aptos"/>
              </a:rPr>
              <a:t>Meilensteine: großer Scope, kleine Abschlüsse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33856"/>
            <a:ext cx="11155680" cy="0"/>
          </a:xfrm>
          <a:prstGeom prst="line">
            <a:avLst/>
          </a:prstGeom>
          <a:ln w="9525">
            <a:solidFill>
              <a:srgbClr val="D7DEE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58368" y="13533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600" b="0">
                <a:solidFill>
                  <a:srgbClr val="64748B"/>
                </a:solidFill>
                <a:latin typeface="Aptos"/>
              </a:rPr>
              <a:t>Damit das Projekt nicht an einem zu großen Auto-Tuning-Anspruch scheitert, hat jede Stufe ein eigenständig vorzeigbares Ergebnis.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1993392"/>
            <a:ext cx="10744200" cy="640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896112" y="2139696"/>
            <a:ext cx="475488" cy="25603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200" b="1">
                <a:solidFill>
                  <a:srgbClr val="FFFFFF"/>
                </a:solidFill>
                <a:latin typeface="Aptos"/>
              </a:rPr>
              <a:t>M1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572768" y="213969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500" b="1">
                <a:solidFill>
                  <a:srgbClr val="12263A"/>
                </a:solidFill>
                <a:latin typeface="Aptos"/>
              </a:rPr>
              <a:t>Config-Suchraum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749039" y="2121408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0">
                <a:solidFill>
                  <a:srgbClr val="1F2937"/>
                </a:solidFill>
                <a:latin typeface="Aptos"/>
              </a:rPr>
              <a:t>Enumerator für gültige Split-/Exec-Kandidaten; noch ohne Kernel-Codegen.</a:t>
            </a:r>
          </a:p>
        </p:txBody>
      </p:sp>
      <p:sp>
        <p:nvSpPr>
          <p:cNvPr id="10" name="Shape 10"/>
          <p:cNvSpPr/>
          <p:nvPr/>
        </p:nvSpPr>
        <p:spPr>
          <a:xfrm>
            <a:off x="658368" y="2862072"/>
            <a:ext cx="10744200" cy="640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896112" y="3008376"/>
            <a:ext cx="475488" cy="256032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200" b="1">
                <a:solidFill>
                  <a:srgbClr val="FFFFFF"/>
                </a:solidFill>
                <a:latin typeface="Aptos"/>
              </a:rPr>
              <a:t>M2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572768" y="300837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500" b="1">
                <a:solidFill>
                  <a:srgbClr val="12263A"/>
                </a:solidFill>
                <a:latin typeface="Aptos"/>
              </a:rPr>
              <a:t>Kernel-Templates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749039" y="2990088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0">
                <a:solidFill>
                  <a:srgbClr val="1F2937"/>
                </a:solidFill>
                <a:latin typeface="Aptos"/>
              </a:rPr>
              <a:t>Automatische cuTile-Variante für Assignment-05-Batched-Matmul.</a:t>
            </a:r>
          </a:p>
        </p:txBody>
      </p:sp>
      <p:sp>
        <p:nvSpPr>
          <p:cNvPr id="14" name="Shape 14"/>
          <p:cNvSpPr/>
          <p:nvPr/>
        </p:nvSpPr>
        <p:spPr>
          <a:xfrm>
            <a:off x="658368" y="3730752"/>
            <a:ext cx="10744200" cy="640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896112" y="3877056"/>
            <a:ext cx="475488" cy="256032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200" b="1">
                <a:solidFill>
                  <a:srgbClr val="FFFFFF"/>
                </a:solidFill>
                <a:latin typeface="Aptos"/>
              </a:rPr>
              <a:t>M3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572768" y="387705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500" b="1">
                <a:solidFill>
                  <a:srgbClr val="12263A"/>
                </a:solidFill>
                <a:latin typeface="Aptos"/>
              </a:rPr>
              <a:t>Benchmark &amp; Ranking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3749039" y="3858768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0">
                <a:solidFill>
                  <a:srgbClr val="1F2937"/>
                </a:solidFill>
                <a:latin typeface="Aptos"/>
              </a:rPr>
              <a:t>do_bench, correctness check, Top-k Configs, Vergleich gegen Hand-L2.</a:t>
            </a:r>
          </a:p>
        </p:txBody>
      </p:sp>
      <p:sp>
        <p:nvSpPr>
          <p:cNvPr id="18" name="Shape 18"/>
          <p:cNvSpPr/>
          <p:nvPr/>
        </p:nvSpPr>
        <p:spPr>
          <a:xfrm>
            <a:off x="658368" y="4599432"/>
            <a:ext cx="10744200" cy="640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896112" y="4745736"/>
            <a:ext cx="475488" cy="256032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200" b="1">
                <a:solidFill>
                  <a:srgbClr val="FFFFFF"/>
                </a:solidFill>
                <a:latin typeface="Aptos"/>
              </a:rPr>
              <a:t>M4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572768" y="474573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500" b="1">
                <a:solidFill>
                  <a:srgbClr val="12263A"/>
                </a:solidFill>
                <a:latin typeface="Aptos"/>
              </a:rPr>
              <a:t>Transfer auf A06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3749039" y="4727448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0">
                <a:solidFill>
                  <a:srgbClr val="1F2937"/>
                </a:solidFill>
                <a:latin typeface="Aptos"/>
              </a:rPr>
              <a:t>Tensor-Ring-Kontraktion als zweiter Test; optional Config-Cache.</a:t>
            </a:r>
          </a:p>
        </p:txBody>
      </p:sp>
      <p:sp>
        <p:nvSpPr>
          <p:cNvPr id="22" name="Shape 22"/>
          <p:cNvSpPr/>
          <p:nvPr/>
        </p:nvSpPr>
        <p:spPr>
          <a:xfrm>
            <a:off x="658368" y="5623560"/>
            <a:ext cx="10744200" cy="384048"/>
          </a:xfrm>
          <a:prstGeom prst="roundRect">
            <a:avLst/>
          </a:prstGeom>
          <a:solidFill>
            <a:srgbClr val="EAF7F4"/>
          </a:solidFill>
          <a:ln w="11430">
            <a:solidFill>
              <a:srgbClr val="BFE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914400" y="5705856"/>
            <a:ext cx="10149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200" b="1">
                <a:solidFill>
                  <a:srgbClr val="4E937A"/>
                </a:solidFill>
                <a:latin typeface="Aptos"/>
              </a:rPr>
              <a:t>Minimal abgeschlossen: M1–M3 reproduzieren Assignment 05. Erweiterung: M4 prüft Generalisierung auf Assignment 06.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000" b="1" dirty="0">
                <a:solidFill>
                  <a:srgbClr val="2FB7A0"/>
                </a:solidFill>
                <a:latin typeface="Aptos"/>
              </a:rPr>
              <a:t>Idee B · GPU / </a:t>
            </a:r>
            <a:r>
              <a:rPr lang="de-DE" sz="1000" b="1" dirty="0" err="1">
                <a:solidFill>
                  <a:srgbClr val="2FB7A0"/>
                </a:solidFill>
                <a:latin typeface="Aptos"/>
              </a:rPr>
              <a:t>cuTile</a:t>
            </a:r>
            <a:endParaRPr lang="de-DE" sz="1000" b="1" dirty="0">
              <a:solidFill>
                <a:srgbClr val="2FB7A0"/>
              </a:solidFill>
              <a:latin typeface="Aptos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02920" y="53035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700" b="1" dirty="0">
                <a:solidFill>
                  <a:srgbClr val="12263A"/>
                </a:solidFill>
                <a:latin typeface="Aptos"/>
              </a:rPr>
              <a:t>Evaluation und erwartete </a:t>
            </a:r>
            <a:r>
              <a:rPr lang="de-DE" sz="2700" b="1" dirty="0" err="1">
                <a:solidFill>
                  <a:srgbClr val="12263A"/>
                </a:solidFill>
                <a:latin typeface="Aptos"/>
              </a:rPr>
              <a:t>Insights</a:t>
            </a:r>
            <a:endParaRPr lang="de-DE" sz="2700" b="1" dirty="0">
              <a:solidFill>
                <a:srgbClr val="12263A"/>
              </a:solidFill>
              <a:latin typeface="Aptos"/>
            </a:endParaRPr>
          </a:p>
        </p:txBody>
      </p:sp>
      <p:cxnSp>
        <p:nvCxnSpPr>
          <p:cNvPr id="4" name="Line 4"/>
          <p:cNvCxnSpPr/>
          <p:nvPr/>
        </p:nvCxnSpPr>
        <p:spPr>
          <a:xfrm>
            <a:off x="502920" y="1133856"/>
            <a:ext cx="11155680" cy="0"/>
          </a:xfrm>
          <a:prstGeom prst="line">
            <a:avLst/>
          </a:prstGeom>
          <a:ln w="9525">
            <a:solidFill>
              <a:srgbClr val="D7DEE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58368" y="1353312"/>
            <a:ext cx="1016665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600" b="0" dirty="0">
                <a:solidFill>
                  <a:srgbClr val="64748B"/>
                </a:solidFill>
                <a:latin typeface="Aptos"/>
              </a:rPr>
              <a:t>Wir bewerten nicht nur die beste Zahl, sondern auch, ob der Auto-Tuner robuste Entscheidungen reproduziert.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938528"/>
            <a:ext cx="2423160" cy="43891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l"/>
            <a:r>
              <a:rPr lang="de-DE" sz="1200" b="1" dirty="0">
                <a:solidFill>
                  <a:srgbClr val="FFFFFF"/>
                </a:solidFill>
                <a:latin typeface="Aptos"/>
              </a:rPr>
              <a:t>Testfall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081528" y="1938528"/>
            <a:ext cx="2057400" cy="43891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l"/>
            <a:r>
              <a:rPr lang="de-DE" sz="1200" b="1" dirty="0">
                <a:solidFill>
                  <a:srgbClr val="FFFFFF"/>
                </a:solidFill>
                <a:latin typeface="Aptos"/>
              </a:rPr>
              <a:t>Referenz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138928" y="1938528"/>
            <a:ext cx="2057400" cy="43891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l"/>
            <a:r>
              <a:rPr lang="de-DE" sz="1200" b="1" dirty="0">
                <a:solidFill>
                  <a:srgbClr val="FFFFFF"/>
                </a:solidFill>
                <a:latin typeface="Aptos"/>
              </a:rPr>
              <a:t>Auto-Tuner Ziel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196328" y="1938528"/>
            <a:ext cx="1965960" cy="43891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l"/>
            <a:r>
              <a:rPr lang="de-DE" sz="1200" b="1" dirty="0">
                <a:solidFill>
                  <a:srgbClr val="FFFFFF"/>
                </a:solidFill>
                <a:latin typeface="Aptos"/>
              </a:rPr>
              <a:t>Metriken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162288" y="1938528"/>
            <a:ext cx="1828800" cy="438912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l"/>
            <a:r>
              <a:rPr lang="de-DE" sz="1200" b="1" dirty="0">
                <a:solidFill>
                  <a:srgbClr val="FFFFFF"/>
                </a:solidFill>
                <a:latin typeface="Aptos"/>
              </a:rPr>
              <a:t>Erfolg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58368" y="2377440"/>
            <a:ext cx="24231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A05 </a:t>
            </a:r>
            <a:r>
              <a:rPr lang="de-DE" sz="1100" b="0" dirty="0" err="1">
                <a:solidFill>
                  <a:srgbClr val="1F2937"/>
                </a:solidFill>
                <a:latin typeface="Aptos"/>
              </a:rPr>
              <a:t>Batched</a:t>
            </a:r>
            <a:r>
              <a:rPr lang="de-DE" sz="1100" b="0" dirty="0">
                <a:solidFill>
                  <a:srgbClr val="1F2937"/>
                </a:solidFill>
                <a:latin typeface="Aptos"/>
              </a:rPr>
              <a:t> </a:t>
            </a:r>
            <a:r>
              <a:rPr lang="de-DE" sz="1100" b="0" dirty="0" err="1">
                <a:solidFill>
                  <a:srgbClr val="1F2937"/>
                </a:solidFill>
                <a:latin typeface="Aptos"/>
              </a:rPr>
              <a:t>Matmul</a:t>
            </a:r>
            <a:endParaRPr lang="de-DE" sz="11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3081528" y="2377440"/>
            <a:ext cx="205740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Baseline + Hand-L2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138928" y="2377440"/>
            <a:ext cx="205740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generierte Kernel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196328" y="2377440"/>
            <a:ext cx="19659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 err="1">
                <a:solidFill>
                  <a:srgbClr val="1F2937"/>
                </a:solidFill>
                <a:latin typeface="Aptos"/>
              </a:rPr>
              <a:t>ms</a:t>
            </a:r>
            <a:r>
              <a:rPr lang="de-DE" sz="1100" b="0" dirty="0">
                <a:solidFill>
                  <a:srgbClr val="1F2937"/>
                </a:solidFill>
                <a:latin typeface="Aptos"/>
              </a:rPr>
              <a:t>, TFLOPS, </a:t>
            </a:r>
            <a:r>
              <a:rPr lang="de-DE" sz="1100" b="0" dirty="0" err="1">
                <a:solidFill>
                  <a:srgbClr val="1F2937"/>
                </a:solidFill>
                <a:latin typeface="Aptos"/>
              </a:rPr>
              <a:t>allclose</a:t>
            </a:r>
            <a:endParaRPr lang="de-DE" sz="11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9162288" y="2377440"/>
            <a:ext cx="182880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≥ 95 % Hand-L2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58368" y="3035808"/>
            <a:ext cx="2423160" cy="658368"/>
          </a:xfrm>
          <a:prstGeom prst="rect">
            <a:avLst/>
          </a:prstGeom>
          <a:solidFill>
            <a:srgbClr val="F7FB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A06 Tensor-Ring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3081528" y="3035808"/>
            <a:ext cx="2057400" cy="658368"/>
          </a:xfrm>
          <a:prstGeom prst="rect">
            <a:avLst/>
          </a:prstGeom>
          <a:solidFill>
            <a:srgbClr val="F7FB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 err="1">
                <a:solidFill>
                  <a:srgbClr val="1F2937"/>
                </a:solidFill>
                <a:latin typeface="Aptos"/>
              </a:rPr>
              <a:t>torch.einsum</a:t>
            </a:r>
            <a:r>
              <a:rPr lang="de-DE" sz="1100" b="0" dirty="0">
                <a:solidFill>
                  <a:srgbClr val="1F2937"/>
                </a:solidFill>
                <a:latin typeface="Aptos"/>
              </a:rPr>
              <a:t> + Hand-Kernel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138928" y="3035808"/>
            <a:ext cx="2057400" cy="658368"/>
          </a:xfrm>
          <a:prstGeom prst="rect">
            <a:avLst/>
          </a:prstGeom>
          <a:solidFill>
            <a:srgbClr val="F7FB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Transfer-Test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196328" y="3035808"/>
            <a:ext cx="1965960" cy="658368"/>
          </a:xfrm>
          <a:prstGeom prst="rect">
            <a:avLst/>
          </a:prstGeom>
          <a:solidFill>
            <a:srgbClr val="F7FB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 err="1">
                <a:solidFill>
                  <a:srgbClr val="1F2937"/>
                </a:solidFill>
                <a:latin typeface="Aptos"/>
              </a:rPr>
              <a:t>ms</a:t>
            </a:r>
            <a:r>
              <a:rPr lang="de-DE" sz="1100" b="0" dirty="0">
                <a:solidFill>
                  <a:srgbClr val="1F2937"/>
                </a:solidFill>
                <a:latin typeface="Aptos"/>
              </a:rPr>
              <a:t>, TFLOPS, </a:t>
            </a:r>
            <a:r>
              <a:rPr lang="de-DE" sz="1100" b="0" dirty="0" err="1">
                <a:solidFill>
                  <a:srgbClr val="1F2937"/>
                </a:solidFill>
                <a:latin typeface="Aptos"/>
              </a:rPr>
              <a:t>max_err</a:t>
            </a:r>
            <a:endParaRPr lang="de-DE" sz="11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9162288" y="3035808"/>
            <a:ext cx="1828800" cy="658368"/>
          </a:xfrm>
          <a:prstGeom prst="rect">
            <a:avLst/>
          </a:prstGeom>
          <a:solidFill>
            <a:srgbClr val="F7FB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≥ 90 % Hand-</a:t>
            </a:r>
            <a:r>
              <a:rPr lang="de-DE" sz="1100" b="0" dirty="0" err="1">
                <a:solidFill>
                  <a:srgbClr val="1F2937"/>
                </a:solidFill>
                <a:latin typeface="Aptos"/>
              </a:rPr>
              <a:t>cuTile</a:t>
            </a:r>
            <a:endParaRPr lang="de-DE" sz="11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658368" y="3694176"/>
            <a:ext cx="24231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Ablation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3081528" y="3694176"/>
            <a:ext cx="205740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kleiner Suchraum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138928" y="3694176"/>
            <a:ext cx="205740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Parameterwirkung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7196328" y="3694176"/>
            <a:ext cx="19659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Top-</a:t>
            </a:r>
            <a:r>
              <a:rPr lang="de-DE" sz="1100" b="0" dirty="0" err="1">
                <a:solidFill>
                  <a:srgbClr val="1F2937"/>
                </a:solidFill>
                <a:latin typeface="Aptos"/>
              </a:rPr>
              <a:t>k</a:t>
            </a:r>
            <a:r>
              <a:rPr lang="de-DE" sz="1100" b="0" dirty="0">
                <a:solidFill>
                  <a:srgbClr val="1F2937"/>
                </a:solidFill>
                <a:latin typeface="Aptos"/>
              </a:rPr>
              <a:t> </a:t>
            </a:r>
            <a:r>
              <a:rPr lang="de-DE" sz="1100" b="0" dirty="0" err="1">
                <a:solidFill>
                  <a:srgbClr val="1F2937"/>
                </a:solidFill>
                <a:latin typeface="Aptos"/>
              </a:rPr>
              <a:t>Configs</a:t>
            </a:r>
            <a:endParaRPr lang="de-DE" sz="11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9162288" y="3694176"/>
            <a:ext cx="182880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wrap="square" lIns="36576" tIns="36576" rIns="36576" bIns="36576" anchor="ctr"/>
          <a:lstStyle/>
          <a:p>
            <a:pPr algn="l"/>
            <a:r>
              <a:rPr lang="de-DE" sz="1100" b="0" dirty="0">
                <a:solidFill>
                  <a:srgbClr val="1F2937"/>
                </a:solidFill>
                <a:latin typeface="Aptos"/>
              </a:rPr>
              <a:t>welche Wahl zählt?</a:t>
            </a:r>
          </a:p>
        </p:txBody>
      </p:sp>
      <p:sp>
        <p:nvSpPr>
          <p:cNvPr id="26" name="Shape 26"/>
          <p:cNvSpPr/>
          <p:nvPr/>
        </p:nvSpPr>
        <p:spPr>
          <a:xfrm>
            <a:off x="658368" y="4736592"/>
            <a:ext cx="3337560" cy="749808"/>
          </a:xfrm>
          <a:prstGeom prst="roundRect">
            <a:avLst/>
          </a:prstGeom>
          <a:solidFill>
            <a:srgbClr val="EAF7F4"/>
          </a:solidFill>
          <a:ln w="11430">
            <a:solidFill>
              <a:srgbClr val="BFE5DD"/>
            </a:solidFill>
          </a:ln>
        </p:spPr>
        <p:txBody>
          <a:bodyPr/>
          <a:lstStyle/>
          <a:p>
            <a:endParaRPr lang="de-DE" dirty="0"/>
          </a:p>
        </p:txBody>
      </p:sp>
      <p:sp>
        <p:nvSpPr>
          <p:cNvPr id="27" name="Text 27"/>
          <p:cNvSpPr txBox="1"/>
          <p:nvPr/>
        </p:nvSpPr>
        <p:spPr>
          <a:xfrm>
            <a:off x="868680" y="491032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600" b="1" dirty="0">
                <a:solidFill>
                  <a:srgbClr val="4E937A"/>
                </a:solidFill>
                <a:latin typeface="Aptos"/>
              </a:rPr>
              <a:t>Erwartung: ≥ 95 % der Hand-L2</a:t>
            </a:r>
          </a:p>
        </p:txBody>
      </p:sp>
      <p:sp>
        <p:nvSpPr>
          <p:cNvPr id="28" name="Shape 28"/>
          <p:cNvSpPr/>
          <p:nvPr/>
        </p:nvSpPr>
        <p:spPr>
          <a:xfrm>
            <a:off x="4343400" y="4736592"/>
            <a:ext cx="3337560" cy="74980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BFD7FF"/>
            </a:solidFill>
          </a:ln>
        </p:spPr>
        <p:txBody>
          <a:bodyPr/>
          <a:lstStyle/>
          <a:p>
            <a:endParaRPr lang="de-DE" dirty="0"/>
          </a:p>
        </p:txBody>
      </p:sp>
      <p:sp>
        <p:nvSpPr>
          <p:cNvPr id="29" name="Text 29"/>
          <p:cNvSpPr txBox="1"/>
          <p:nvPr/>
        </p:nvSpPr>
        <p:spPr>
          <a:xfrm>
            <a:off x="4553712" y="491032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600" b="1" dirty="0">
                <a:solidFill>
                  <a:srgbClr val="2F80ED"/>
                </a:solidFill>
                <a:latin typeface="Aptos"/>
              </a:rPr>
              <a:t>Insight: L2-Reuse vs. Parallelität sichtbar machen</a:t>
            </a:r>
          </a:p>
        </p:txBody>
      </p:sp>
      <p:sp>
        <p:nvSpPr>
          <p:cNvPr id="30" name="Shape 30"/>
          <p:cNvSpPr/>
          <p:nvPr/>
        </p:nvSpPr>
        <p:spPr>
          <a:xfrm>
            <a:off x="8028431" y="4736592"/>
            <a:ext cx="3337560" cy="749808"/>
          </a:xfrm>
          <a:prstGeom prst="roundRect">
            <a:avLst/>
          </a:prstGeom>
          <a:solidFill>
            <a:srgbClr val="FFF5F2"/>
          </a:solidFill>
          <a:ln w="11430">
            <a:solidFill>
              <a:srgbClr val="F6C5BC"/>
            </a:solidFill>
          </a:ln>
        </p:spPr>
        <p:txBody>
          <a:bodyPr/>
          <a:lstStyle/>
          <a:p>
            <a:endParaRPr lang="de-DE" dirty="0"/>
          </a:p>
        </p:txBody>
      </p:sp>
      <p:sp>
        <p:nvSpPr>
          <p:cNvPr id="31" name="Text 31"/>
          <p:cNvSpPr txBox="1"/>
          <p:nvPr/>
        </p:nvSpPr>
        <p:spPr>
          <a:xfrm>
            <a:off x="8229600" y="491032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de-DE" sz="1600" b="1" dirty="0">
                <a:solidFill>
                  <a:srgbClr val="E45756"/>
                </a:solidFill>
                <a:latin typeface="Aptos"/>
              </a:rPr>
              <a:t>Stretch: </a:t>
            </a:r>
            <a:r>
              <a:rPr lang="de-DE" sz="1600" b="1" dirty="0" err="1">
                <a:solidFill>
                  <a:srgbClr val="E45756"/>
                </a:solidFill>
                <a:latin typeface="Aptos"/>
              </a:rPr>
              <a:t>Config</a:t>
            </a:r>
            <a:r>
              <a:rPr lang="de-DE" sz="1600" b="1" dirty="0">
                <a:solidFill>
                  <a:srgbClr val="E45756"/>
                </a:solidFill>
                <a:latin typeface="Aptos"/>
              </a:rPr>
              <a:t>-Cache pro Shape/GPU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58368" y="596188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900" b="0" dirty="0">
                <a:solidFill>
                  <a:srgbClr val="64748B"/>
                </a:solidFill>
                <a:latin typeface="Aptos"/>
              </a:rPr>
              <a:t>Quellen: </a:t>
            </a:r>
            <a:r>
              <a:rPr lang="de-DE" sz="900" b="0" dirty="0" err="1">
                <a:solidFill>
                  <a:srgbClr val="64748B"/>
                </a:solidFill>
                <a:latin typeface="Aptos"/>
              </a:rPr>
              <a:t>Assignment</a:t>
            </a:r>
            <a:r>
              <a:rPr lang="de-DE" sz="900" b="0" dirty="0">
                <a:solidFill>
                  <a:srgbClr val="64748B"/>
                </a:solidFill>
                <a:latin typeface="Aptos"/>
              </a:rPr>
              <a:t> 05/06 Logs, Triton </a:t>
            </a:r>
            <a:r>
              <a:rPr lang="de-DE" sz="900" b="0" dirty="0" err="1">
                <a:solidFill>
                  <a:srgbClr val="64748B"/>
                </a:solidFill>
                <a:latin typeface="Aptos"/>
              </a:rPr>
              <a:t>do_bench</a:t>
            </a:r>
            <a:r>
              <a:rPr lang="de-DE" sz="900" b="0" dirty="0">
                <a:solidFill>
                  <a:srgbClr val="64748B"/>
                </a:solidFill>
                <a:latin typeface="Aptos"/>
              </a:rPr>
              <a:t>/</a:t>
            </a:r>
            <a:r>
              <a:rPr lang="de-DE" sz="900" b="0" dirty="0" err="1">
                <a:solidFill>
                  <a:srgbClr val="64748B"/>
                </a:solidFill>
                <a:latin typeface="Aptos"/>
              </a:rPr>
              <a:t>autotune</a:t>
            </a:r>
            <a:r>
              <a:rPr lang="de-DE" sz="900" b="0" dirty="0">
                <a:solidFill>
                  <a:srgbClr val="64748B"/>
                </a:solidFill>
                <a:latin typeface="Aptos"/>
              </a:rPr>
              <a:t>, NVIDIA </a:t>
            </a:r>
            <a:r>
              <a:rPr lang="de-DE" sz="900" b="0" dirty="0" err="1">
                <a:solidFill>
                  <a:srgbClr val="64748B"/>
                </a:solidFill>
                <a:latin typeface="Aptos"/>
              </a:rPr>
              <a:t>cuTile</a:t>
            </a:r>
            <a:r>
              <a:rPr lang="de-DE" sz="900" b="0" dirty="0">
                <a:solidFill>
                  <a:srgbClr val="64748B"/>
                </a:solidFill>
                <a:latin typeface="Aptos"/>
              </a:rPr>
              <a:t>/</a:t>
            </a:r>
            <a:r>
              <a:rPr lang="de-DE" sz="900" b="0" dirty="0" err="1">
                <a:solidFill>
                  <a:srgbClr val="64748B"/>
                </a:solidFill>
                <a:latin typeface="Aptos"/>
              </a:rPr>
              <a:t>cuTENSOR</a:t>
            </a:r>
            <a:r>
              <a:rPr lang="de-DE" sz="900" b="0" dirty="0">
                <a:solidFill>
                  <a:srgbClr val="64748B"/>
                </a:solidFill>
                <a:latin typeface="Aptos"/>
              </a:rPr>
              <a:t>, </a:t>
            </a:r>
            <a:r>
              <a:rPr lang="de-DE" sz="900" b="0" dirty="0" err="1">
                <a:solidFill>
                  <a:srgbClr val="64748B"/>
                </a:solidFill>
                <a:latin typeface="Aptos"/>
              </a:rPr>
              <a:t>Ansor</a:t>
            </a:r>
            <a:r>
              <a:rPr lang="de-DE" sz="900" b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961120" y="118872"/>
            <a:ext cx="2651760" cy="1828800"/>
          </a:xfrm>
          <a:prstGeom prst="roundRect">
            <a:avLst/>
          </a:prstGeom>
          <a:solidFill>
            <a:srgbClr val="2F80ED">
              <a:alpha val="8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10058400" y="5349240"/>
            <a:ext cx="1554480" cy="1097280"/>
          </a:xfrm>
          <a:prstGeom prst="roundRect">
            <a:avLst/>
          </a:prstGeom>
          <a:solidFill>
            <a:srgbClr val="F2A541">
              <a:alpha val="8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hape 4"/>
          <p:cNvSpPr/>
          <p:nvPr/>
        </p:nvSpPr>
        <p:spPr>
          <a:xfrm>
            <a:off x="566928" y="594360"/>
            <a:ext cx="146304" cy="5349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5"/>
          <p:cNvSpPr txBox="1"/>
          <p:nvPr/>
        </p:nvSpPr>
        <p:spPr>
          <a:xfrm>
            <a:off x="841248" y="77724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200" b="1">
                <a:solidFill>
                  <a:srgbClr val="2F80ED"/>
                </a:solidFill>
                <a:latin typeface="Aptos"/>
              </a:rPr>
              <a:t>PROJEKTIDEE A · XDNA NPU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86384" y="132588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4200" b="1">
                <a:solidFill>
                  <a:srgbClr val="FFFFFF"/>
                </a:solidFill>
                <a:latin typeface="Aptos"/>
              </a:rPr>
              <a:t>Durchsatz-optimierter</a:t>
            </a:r>
          </a:p>
          <a:p>
            <a:pPr algn="l"/>
            <a:r>
              <a:rPr lang="de-DE" sz="4200" b="1">
                <a:solidFill>
                  <a:srgbClr val="FFFFFF"/>
                </a:solidFill>
                <a:latin typeface="Aptos"/>
              </a:rPr>
              <a:t>Whole-NPU-GEMM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333756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2000" b="0" dirty="0">
                <a:solidFill>
                  <a:srgbClr val="DCE7F3"/>
                </a:solidFill>
                <a:latin typeface="Aptos"/>
              </a:rPr>
              <a:t>Aus Matrixgrößen und </a:t>
            </a:r>
            <a:r>
              <a:rPr lang="de-DE" sz="2000" b="0" dirty="0" err="1">
                <a:solidFill>
                  <a:srgbClr val="DCE7F3"/>
                </a:solidFill>
                <a:latin typeface="Aptos"/>
              </a:rPr>
              <a:t>Tile</a:t>
            </a:r>
            <a:r>
              <a:rPr lang="de-DE" sz="2000" b="0" dirty="0">
                <a:solidFill>
                  <a:srgbClr val="DCE7F3"/>
                </a:solidFill>
                <a:latin typeface="Aptos"/>
              </a:rPr>
              <a:t>-Splits automatisch FIFOs, DMA-Deskriptoren und das Output-Layout erzeugen.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22960" y="498348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de-DE" sz="1300" b="0">
                <a:solidFill>
                  <a:srgbClr val="B8C7D9"/>
                </a:solidFill>
                <a:latin typeface="Aptos"/>
              </a:rPr>
              <a:t>Niklas Becker-Klöser · Daria Elagina</a:t>
            </a:r>
          </a:p>
          <a:p>
            <a:pPr algn="l"/>
            <a:r>
              <a:rPr lang="de-DE" sz="1300" b="0">
                <a:solidFill>
                  <a:srgbClr val="B8C7D9"/>
                </a:solidFill>
                <a:latin typeface="Aptos"/>
              </a:rPr>
              <a:t>Pitch, 17.06.2026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909560" y="1234440"/>
            <a:ext cx="3200400" cy="713232"/>
          </a:xfrm>
          <a:prstGeom prst="roundRect">
            <a:avLst/>
          </a:prstGeom>
          <a:solidFill>
            <a:srgbClr val="21384F"/>
          </a:solidFill>
          <a:ln w="11430">
            <a:solidFill>
              <a:srgbClr val="36536E"/>
            </a:solidFill>
          </a:ln>
        </p:spPr>
        <p:txBody>
          <a:bodyPr wrap="square" lIns="109728" tIns="109728" rIns="109728" bIns="109728" anchor="ctr"/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Aptos"/>
              </a:rPr>
              <a:t>Größen → Config → DMA/FIFO-Codegen → 32 Tiles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028431" y="2240280"/>
            <a:ext cx="1828800" cy="292608"/>
          </a:xfrm>
          <a:prstGeom prst="roundRect">
            <a:avLst/>
          </a:prstGeom>
          <a:solidFill>
            <a:srgbClr val="2FB7A0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32 Compute-Tiles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021824" y="2240280"/>
            <a:ext cx="868680" cy="29260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bf16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028431" y="2697480"/>
            <a:ext cx="2057400" cy="292608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dimensionsToStream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250424" y="2697480"/>
            <a:ext cx="1188720" cy="292608"/>
          </a:xfrm>
          <a:prstGeom prst="roundRect">
            <a:avLst/>
          </a:prstGeom>
          <a:solidFill>
            <a:srgbClr val="E45756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14.71 TOPS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2"/>
          <p:cNvSpPr txBox="1"/>
          <p:nvPr/>
        </p:nvSpPr>
        <p:spPr>
          <a:xfrm>
            <a:off x="503338" y="256295"/>
            <a:ext cx="2470941" cy="154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rgbClr val="2FB7A0"/>
                </a:solidFill>
              </a:defRPr>
            </a:lvl1pPr>
          </a:lstStyle>
          <a:p>
            <a:r>
              <a:rPr sz="1001"/>
              <a:t>Idee A · NPU</a:t>
            </a:r>
          </a:p>
        </p:txBody>
      </p:sp>
      <p:sp>
        <p:nvSpPr>
          <p:cNvPr id="289" name="Text 3"/>
          <p:cNvSpPr txBox="1"/>
          <p:nvPr/>
        </p:nvSpPr>
        <p:spPr>
          <a:xfrm>
            <a:off x="668577" y="614861"/>
            <a:ext cx="8053431" cy="83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700" b="1">
                <a:solidFill>
                  <a:srgbClr val="12263A"/>
                </a:solidFill>
              </a:defRPr>
            </a:lvl1pPr>
          </a:lstStyle>
          <a:p>
            <a:r>
              <a:rPr sz="2702"/>
              <a:t>XDNA2 Whole-NPU GEMM: Von Hardcoded zu Parametrisiert</a:t>
            </a:r>
          </a:p>
        </p:txBody>
      </p:sp>
      <p:sp>
        <p:nvSpPr>
          <p:cNvPr id="290" name="Shape 6"/>
          <p:cNvSpPr/>
          <p:nvPr/>
        </p:nvSpPr>
        <p:spPr>
          <a:xfrm>
            <a:off x="416259" y="2861245"/>
            <a:ext cx="4767999" cy="1516185"/>
          </a:xfrm>
          <a:prstGeom prst="roundRect">
            <a:avLst>
              <a:gd name="adj" fmla="val 20120"/>
            </a:avLst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lIns="45757" rIns="45757"/>
          <a:lstStyle/>
          <a:p>
            <a:endParaRPr/>
          </a:p>
        </p:txBody>
      </p:sp>
      <p:sp>
        <p:nvSpPr>
          <p:cNvPr id="291" name="Shape 7"/>
          <p:cNvSpPr/>
          <p:nvPr/>
        </p:nvSpPr>
        <p:spPr>
          <a:xfrm>
            <a:off x="658777" y="2862472"/>
            <a:ext cx="3889443" cy="129531"/>
          </a:xfrm>
          <a:prstGeom prst="rect">
            <a:avLst/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292" name="Shape 10"/>
          <p:cNvSpPr/>
          <p:nvPr/>
        </p:nvSpPr>
        <p:spPr>
          <a:xfrm>
            <a:off x="582148" y="3326478"/>
            <a:ext cx="82366" cy="82366"/>
          </a:xfrm>
          <a:prstGeom prst="roundRect">
            <a:avLst>
              <a:gd name="adj" fmla="val 16667"/>
            </a:avLst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293" name="Text 11"/>
          <p:cNvSpPr txBox="1"/>
          <p:nvPr/>
        </p:nvSpPr>
        <p:spPr>
          <a:xfrm>
            <a:off x="776040" y="3247868"/>
            <a:ext cx="4242307" cy="849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>
                <a:solidFill>
                  <a:srgbClr val="1F2937"/>
                </a:solidFill>
              </a:defRPr>
            </a:lvl1pPr>
          </a:lstStyle>
          <a:p>
            <a:r>
              <a:t>Ziel: vollständig parametrisierbarer, generischer GEMM-Kernel für die AMD XDNA2 NPU</a:t>
            </a:r>
          </a:p>
        </p:txBody>
      </p:sp>
      <p:sp>
        <p:nvSpPr>
          <p:cNvPr id="294" name="Shape 19"/>
          <p:cNvSpPr/>
          <p:nvPr/>
        </p:nvSpPr>
        <p:spPr>
          <a:xfrm>
            <a:off x="6978148" y="1682868"/>
            <a:ext cx="5395733" cy="2551838"/>
          </a:xfrm>
          <a:prstGeom prst="roundRect">
            <a:avLst>
              <a:gd name="adj" fmla="val 19426"/>
            </a:avLst>
          </a:prstGeom>
          <a:solidFill>
            <a:srgbClr val="FFF5F2"/>
          </a:solidFill>
          <a:ln w="11430">
            <a:solidFill>
              <a:srgbClr val="D7DEE8"/>
            </a:solidFill>
          </a:ln>
        </p:spPr>
        <p:txBody>
          <a:bodyPr lIns="45757" rIns="45757"/>
          <a:lstStyle/>
          <a:p>
            <a:endParaRPr/>
          </a:p>
        </p:txBody>
      </p:sp>
      <p:sp>
        <p:nvSpPr>
          <p:cNvPr id="295" name="Shape 20"/>
          <p:cNvSpPr/>
          <p:nvPr/>
        </p:nvSpPr>
        <p:spPr>
          <a:xfrm>
            <a:off x="7307607" y="1682868"/>
            <a:ext cx="2580760" cy="109791"/>
          </a:xfrm>
          <a:prstGeom prst="rect">
            <a:avLst/>
          </a:prstGeom>
          <a:solidFill>
            <a:srgbClr val="E45756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296" name="Text 21"/>
          <p:cNvSpPr txBox="1"/>
          <p:nvPr/>
        </p:nvSpPr>
        <p:spPr>
          <a:xfrm>
            <a:off x="7307607" y="1963612"/>
            <a:ext cx="2580760" cy="261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700" b="1">
                <a:solidFill>
                  <a:srgbClr val="1F2937"/>
                </a:solidFill>
              </a:defRPr>
            </a:lvl1pPr>
          </a:lstStyle>
          <a:p>
            <a:r>
              <a:rPr sz="1701"/>
              <a:t>TODO: Generator</a:t>
            </a:r>
          </a:p>
        </p:txBody>
      </p:sp>
      <p:sp>
        <p:nvSpPr>
          <p:cNvPr id="297" name="Text 13"/>
          <p:cNvSpPr txBox="1"/>
          <p:nvPr/>
        </p:nvSpPr>
        <p:spPr>
          <a:xfrm>
            <a:off x="7305533" y="2391343"/>
            <a:ext cx="4543902" cy="1403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>
                <a:solidFill>
                  <a:srgbClr val="1F2937"/>
                </a:solidFill>
              </a:defRPr>
            </a:lvl1pPr>
          </a:lstStyle>
          <a:p>
            <a:r>
              <a:t>Automatische Generierung von FIFO-Typen, dimensionsToStream, DMA-Deskriptoren, Offsets und Layout-Transformationen basierend auf Matrixgrößen (M, N, K) und Tiling-Parametern.</a:t>
            </a:r>
          </a:p>
        </p:txBody>
      </p:sp>
      <p:sp>
        <p:nvSpPr>
          <p:cNvPr id="298" name="Text 5"/>
          <p:cNvSpPr txBox="1"/>
          <p:nvPr/>
        </p:nvSpPr>
        <p:spPr>
          <a:xfrm>
            <a:off x="646146" y="1845886"/>
            <a:ext cx="4941880" cy="523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64748B"/>
                </a:solidFill>
              </a:defRPr>
            </a:lvl1pPr>
          </a:lstStyle>
          <a:p>
            <a:r>
              <a:rPr sz="1701"/>
              <a:t>Assignment 10: erfolgreich implementierter, aber stark hardcoded Whole-NPU-GEMM</a:t>
            </a:r>
          </a:p>
        </p:txBody>
      </p:sp>
      <p:sp>
        <p:nvSpPr>
          <p:cNvPr id="299" name="Shape 19"/>
          <p:cNvSpPr/>
          <p:nvPr/>
        </p:nvSpPr>
        <p:spPr>
          <a:xfrm>
            <a:off x="6978148" y="4649429"/>
            <a:ext cx="5395733" cy="2254601"/>
          </a:xfrm>
          <a:prstGeom prst="roundRect">
            <a:avLst>
              <a:gd name="adj" fmla="val 21987"/>
            </a:avLst>
          </a:prstGeom>
          <a:solidFill>
            <a:srgbClr val="FFF5F2"/>
          </a:solidFill>
          <a:ln w="11430">
            <a:solidFill>
              <a:srgbClr val="D7DEE8"/>
            </a:solidFill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00" name="Shape 20"/>
          <p:cNvSpPr/>
          <p:nvPr/>
        </p:nvSpPr>
        <p:spPr>
          <a:xfrm>
            <a:off x="7307607" y="4649429"/>
            <a:ext cx="2580760" cy="109791"/>
          </a:xfrm>
          <a:prstGeom prst="rect">
            <a:avLst/>
          </a:prstGeom>
          <a:solidFill>
            <a:srgbClr val="E45756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01" name="Text 21"/>
          <p:cNvSpPr txBox="1"/>
          <p:nvPr/>
        </p:nvSpPr>
        <p:spPr>
          <a:xfrm>
            <a:off x="7307607" y="4930173"/>
            <a:ext cx="2580760" cy="261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700" b="1">
                <a:solidFill>
                  <a:srgbClr val="1F2937"/>
                </a:solidFill>
              </a:defRPr>
            </a:lvl1pPr>
          </a:lstStyle>
          <a:p>
            <a:r>
              <a:rPr sz="1701"/>
              <a:t>TODO: Benchmark</a:t>
            </a:r>
          </a:p>
        </p:txBody>
      </p:sp>
      <p:sp>
        <p:nvSpPr>
          <p:cNvPr id="302" name="Text 13"/>
          <p:cNvSpPr txBox="1"/>
          <p:nvPr/>
        </p:nvSpPr>
        <p:spPr>
          <a:xfrm>
            <a:off x="7305533" y="5355340"/>
            <a:ext cx="4740962" cy="1403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t>Zulässige Split-Konfigurationen benchmarken</a:t>
            </a:r>
          </a:p>
          <a:p>
            <a:pPr>
              <a:defRPr>
                <a:solidFill>
                  <a:srgbClr val="1F2937"/>
                </a:solidFill>
              </a:defRPr>
            </a:pPr>
            <a:endParaRPr/>
          </a:p>
          <a:p>
            <a:pPr>
              <a:defRPr>
                <a:solidFill>
                  <a:srgbClr val="1F2937"/>
                </a:solidFill>
              </a:defRPr>
            </a:pPr>
            <a:r>
              <a:t>Performance?</a:t>
            </a:r>
          </a:p>
          <a:p>
            <a:pPr>
              <a:defRPr>
                <a:solidFill>
                  <a:srgbClr val="1F2937"/>
                </a:solidFill>
              </a:defRPr>
            </a:pPr>
            <a:endParaRPr/>
          </a:p>
          <a:p>
            <a:pPr>
              <a:defRPr>
                <a:solidFill>
                  <a:srgbClr val="1F2937"/>
                </a:solidFill>
              </a:defRPr>
            </a:pPr>
            <a:r>
              <a:t>+ matmul Kernel optimieren</a:t>
            </a:r>
          </a:p>
        </p:txBody>
      </p:sp>
      <p:sp>
        <p:nvSpPr>
          <p:cNvPr id="303" name="Text 5"/>
          <p:cNvSpPr txBox="1"/>
          <p:nvPr/>
        </p:nvSpPr>
        <p:spPr>
          <a:xfrm>
            <a:off x="646146" y="5151287"/>
            <a:ext cx="4941880" cy="785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rPr sz="1701"/>
              <a:t>2 Engpässe:</a:t>
            </a:r>
          </a:p>
          <a:p>
            <a:pPr marL="284305" indent="-284305">
              <a:buSzPct val="100000"/>
              <a:buAutoNum type="arabicParenR"/>
              <a:defRPr sz="1700">
                <a:solidFill>
                  <a:srgbClr val="64748B"/>
                </a:solidFill>
              </a:defRPr>
            </a:pPr>
            <a:r>
              <a:rPr sz="1701"/>
              <a:t>Rechenleistung des Kernels</a:t>
            </a:r>
          </a:p>
          <a:p>
            <a:pPr marL="284305" indent="-284305">
              <a:buSzPct val="100000"/>
              <a:buAutoNum type="arabicParenR"/>
              <a:defRPr sz="1700">
                <a:solidFill>
                  <a:srgbClr val="64748B"/>
                </a:solidFill>
              </a:defRPr>
            </a:pPr>
            <a:r>
              <a:rPr sz="1701"/>
              <a:t>Datenbewegung</a:t>
            </a:r>
          </a:p>
        </p:txBody>
      </p:sp>
      <p:sp>
        <p:nvSpPr>
          <p:cNvPr id="304" name="Shape 19"/>
          <p:cNvSpPr/>
          <p:nvPr/>
        </p:nvSpPr>
        <p:spPr>
          <a:xfrm>
            <a:off x="7131660" y="5491422"/>
            <a:ext cx="82366" cy="82366"/>
          </a:xfrm>
          <a:prstGeom prst="roundRect">
            <a:avLst>
              <a:gd name="adj" fmla="val 16667"/>
            </a:avLst>
          </a:prstGeom>
          <a:solidFill>
            <a:srgbClr val="E45756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05" name="Shape 19"/>
          <p:cNvSpPr/>
          <p:nvPr/>
        </p:nvSpPr>
        <p:spPr>
          <a:xfrm>
            <a:off x="7131660" y="5999845"/>
            <a:ext cx="82366" cy="82366"/>
          </a:xfrm>
          <a:prstGeom prst="roundRect">
            <a:avLst>
              <a:gd name="adj" fmla="val 16667"/>
            </a:avLst>
          </a:prstGeom>
          <a:solidFill>
            <a:srgbClr val="E45756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2"/>
          <p:cNvSpPr txBox="1"/>
          <p:nvPr/>
        </p:nvSpPr>
        <p:spPr>
          <a:xfrm>
            <a:off x="503338" y="256295"/>
            <a:ext cx="2470941" cy="154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rgbClr val="2FB7A0"/>
                </a:solidFill>
              </a:defRPr>
            </a:lvl1pPr>
          </a:lstStyle>
          <a:p>
            <a:r>
              <a:rPr sz="1001"/>
              <a:t>Idee A · NPU</a:t>
            </a:r>
          </a:p>
        </p:txBody>
      </p:sp>
      <p:sp>
        <p:nvSpPr>
          <p:cNvPr id="308" name="Text 3"/>
          <p:cNvSpPr txBox="1"/>
          <p:nvPr/>
        </p:nvSpPr>
        <p:spPr>
          <a:xfrm>
            <a:off x="503340" y="530844"/>
            <a:ext cx="8053431" cy="416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700" b="1">
                <a:solidFill>
                  <a:srgbClr val="12263A"/>
                </a:solidFill>
              </a:defRPr>
            </a:lvl1pPr>
          </a:lstStyle>
          <a:p>
            <a:r>
              <a:rPr sz="2702"/>
              <a:t>Constraints</a:t>
            </a:r>
          </a:p>
        </p:txBody>
      </p:sp>
      <p:sp>
        <p:nvSpPr>
          <p:cNvPr id="309" name="Shape 19"/>
          <p:cNvSpPr/>
          <p:nvPr/>
        </p:nvSpPr>
        <p:spPr>
          <a:xfrm>
            <a:off x="4102871" y="1281651"/>
            <a:ext cx="3248829" cy="2008226"/>
          </a:xfrm>
          <a:prstGeom prst="roundRect">
            <a:avLst>
              <a:gd name="adj" fmla="val 24685"/>
            </a:avLst>
          </a:prstGeom>
          <a:solidFill>
            <a:srgbClr val="FFF5F2"/>
          </a:solidFill>
          <a:ln w="11430">
            <a:solidFill>
              <a:srgbClr val="D7DEE8"/>
            </a:solidFill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10" name="Shape 20"/>
          <p:cNvSpPr/>
          <p:nvPr/>
        </p:nvSpPr>
        <p:spPr>
          <a:xfrm>
            <a:off x="4432329" y="1281651"/>
            <a:ext cx="2580759" cy="109791"/>
          </a:xfrm>
          <a:prstGeom prst="rect">
            <a:avLst/>
          </a:prstGeom>
          <a:solidFill>
            <a:srgbClr val="E45756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11" name="Text 21"/>
          <p:cNvSpPr txBox="1"/>
          <p:nvPr/>
        </p:nvSpPr>
        <p:spPr>
          <a:xfrm>
            <a:off x="4673830" y="1507327"/>
            <a:ext cx="2580759" cy="261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700" b="1">
                <a:solidFill>
                  <a:srgbClr val="1F2937"/>
                </a:solidFill>
              </a:defRPr>
            </a:lvl1pPr>
          </a:lstStyle>
          <a:p>
            <a:r>
              <a:rPr sz="1701"/>
              <a:t>Tile-Grid-Topologie </a:t>
            </a:r>
          </a:p>
        </p:txBody>
      </p:sp>
      <p:sp>
        <p:nvSpPr>
          <p:cNvPr id="312" name="Shape 22"/>
          <p:cNvSpPr/>
          <p:nvPr/>
        </p:nvSpPr>
        <p:spPr>
          <a:xfrm>
            <a:off x="4432329" y="2057588"/>
            <a:ext cx="82366" cy="82366"/>
          </a:xfrm>
          <a:prstGeom prst="roundRect">
            <a:avLst>
              <a:gd name="adj" fmla="val 16667"/>
            </a:avLst>
          </a:prstGeom>
          <a:solidFill>
            <a:srgbClr val="E45756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13" name="Text 23"/>
          <p:cNvSpPr txBox="1"/>
          <p:nvPr/>
        </p:nvSpPr>
        <p:spPr>
          <a:xfrm>
            <a:off x="4578754" y="1984375"/>
            <a:ext cx="2434334" cy="249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 sz="1500">
                <a:solidFill>
                  <a:srgbClr val="1F2937"/>
                </a:solidFill>
              </a:defRPr>
            </a:lvl1pPr>
          </a:lstStyle>
          <a:p>
            <a:r>
              <a:rPr sz="1501"/>
              <a:t>4x8 Compute Tile Grid (32)</a:t>
            </a:r>
          </a:p>
        </p:txBody>
      </p:sp>
      <p:sp>
        <p:nvSpPr>
          <p:cNvPr id="314" name="Shape 24"/>
          <p:cNvSpPr/>
          <p:nvPr/>
        </p:nvSpPr>
        <p:spPr>
          <a:xfrm>
            <a:off x="4432329" y="2467123"/>
            <a:ext cx="82366" cy="82366"/>
          </a:xfrm>
          <a:prstGeom prst="roundRect">
            <a:avLst>
              <a:gd name="adj" fmla="val 16667"/>
            </a:avLst>
          </a:prstGeom>
          <a:solidFill>
            <a:srgbClr val="E45756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15" name="Text 25"/>
          <p:cNvSpPr txBox="1"/>
          <p:nvPr/>
        </p:nvSpPr>
        <p:spPr>
          <a:xfrm>
            <a:off x="4578754" y="2393911"/>
            <a:ext cx="2434334" cy="249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 sz="1500">
                <a:solidFill>
                  <a:srgbClr val="1F2937"/>
                </a:solidFill>
              </a:defRPr>
            </a:lvl1pPr>
          </a:lstStyle>
          <a:p>
            <a:r>
              <a:rPr sz="1501"/>
              <a:t>1x8 Memory Tile</a:t>
            </a:r>
          </a:p>
        </p:txBody>
      </p:sp>
      <p:sp>
        <p:nvSpPr>
          <p:cNvPr id="316" name="Shape 26"/>
          <p:cNvSpPr/>
          <p:nvPr/>
        </p:nvSpPr>
        <p:spPr>
          <a:xfrm>
            <a:off x="4432329" y="2876659"/>
            <a:ext cx="82366" cy="82366"/>
          </a:xfrm>
          <a:prstGeom prst="roundRect">
            <a:avLst>
              <a:gd name="adj" fmla="val 16667"/>
            </a:avLst>
          </a:prstGeom>
          <a:solidFill>
            <a:srgbClr val="E45756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17" name="Text 27"/>
          <p:cNvSpPr txBox="1"/>
          <p:nvPr/>
        </p:nvSpPr>
        <p:spPr>
          <a:xfrm>
            <a:off x="4578754" y="2778750"/>
            <a:ext cx="2434334" cy="249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 sz="1500">
                <a:solidFill>
                  <a:srgbClr val="1F2937"/>
                </a:solidFill>
              </a:defRPr>
            </a:lvl1pPr>
          </a:lstStyle>
          <a:p>
            <a:r>
              <a:rPr sz="1501"/>
              <a:t>1x8 Shim Tile</a:t>
            </a:r>
          </a:p>
        </p:txBody>
      </p:sp>
      <p:sp>
        <p:nvSpPr>
          <p:cNvPr id="318" name="Shape 30"/>
          <p:cNvSpPr/>
          <p:nvPr/>
        </p:nvSpPr>
        <p:spPr>
          <a:xfrm>
            <a:off x="8130294" y="1281630"/>
            <a:ext cx="4656489" cy="4721618"/>
          </a:xfrm>
          <a:prstGeom prst="roundRect">
            <a:avLst>
              <a:gd name="adj" fmla="val 10646"/>
            </a:avLst>
          </a:prstGeom>
          <a:solidFill>
            <a:srgbClr val="F1FAF8"/>
          </a:solidFill>
          <a:ln w="11430">
            <a:solidFill>
              <a:srgbClr val="D7DEE8"/>
            </a:solidFill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19" name="Shape 31"/>
          <p:cNvSpPr/>
          <p:nvPr/>
        </p:nvSpPr>
        <p:spPr>
          <a:xfrm>
            <a:off x="8459752" y="1289622"/>
            <a:ext cx="2580759" cy="93805"/>
          </a:xfrm>
          <a:prstGeom prst="rect">
            <a:avLst/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20" name="Text 32"/>
          <p:cNvSpPr txBox="1"/>
          <p:nvPr/>
        </p:nvSpPr>
        <p:spPr>
          <a:xfrm>
            <a:off x="8713964" y="1575268"/>
            <a:ext cx="2580759" cy="261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700" b="1">
                <a:solidFill>
                  <a:srgbClr val="1F2937"/>
                </a:solidFill>
              </a:defRPr>
            </a:lvl1pPr>
          </a:lstStyle>
          <a:p>
            <a:r>
              <a:rPr sz="1701"/>
              <a:t>Memory-Constraint</a:t>
            </a:r>
          </a:p>
        </p:txBody>
      </p:sp>
      <p:sp>
        <p:nvSpPr>
          <p:cNvPr id="321" name="Shape 33"/>
          <p:cNvSpPr/>
          <p:nvPr/>
        </p:nvSpPr>
        <p:spPr>
          <a:xfrm>
            <a:off x="8459753" y="2233399"/>
            <a:ext cx="82366" cy="82366"/>
          </a:xfrm>
          <a:prstGeom prst="roundRect">
            <a:avLst>
              <a:gd name="adj" fmla="val 16667"/>
            </a:avLst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22" name="Text 34"/>
          <p:cNvSpPr txBox="1"/>
          <p:nvPr/>
        </p:nvSpPr>
        <p:spPr>
          <a:xfrm>
            <a:off x="8606179" y="2160186"/>
            <a:ext cx="2434334" cy="249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 sz="1500">
                <a:solidFill>
                  <a:srgbClr val="1F2937"/>
                </a:solidFill>
              </a:defRPr>
            </a:lvl1pPr>
          </a:lstStyle>
          <a:p>
            <a:r>
              <a:rPr sz="1501"/>
              <a:t>L1 (Compute): 64 KiB</a:t>
            </a:r>
          </a:p>
        </p:txBody>
      </p:sp>
      <p:sp>
        <p:nvSpPr>
          <p:cNvPr id="323" name="Shape 35"/>
          <p:cNvSpPr/>
          <p:nvPr/>
        </p:nvSpPr>
        <p:spPr>
          <a:xfrm>
            <a:off x="8459753" y="2642934"/>
            <a:ext cx="82366" cy="82366"/>
          </a:xfrm>
          <a:prstGeom prst="roundRect">
            <a:avLst>
              <a:gd name="adj" fmla="val 16667"/>
            </a:avLst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24" name="Text 36"/>
          <p:cNvSpPr txBox="1"/>
          <p:nvPr/>
        </p:nvSpPr>
        <p:spPr>
          <a:xfrm>
            <a:off x="8606179" y="2569721"/>
            <a:ext cx="2434334" cy="249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 sz="1500">
                <a:solidFill>
                  <a:srgbClr val="1F2937"/>
                </a:solidFill>
              </a:defRPr>
            </a:lvl1pPr>
          </a:lstStyle>
          <a:p>
            <a:r>
              <a:rPr sz="1501"/>
              <a:t>L2 (Memory): 256 KiB</a:t>
            </a:r>
          </a:p>
        </p:txBody>
      </p:sp>
      <p:sp>
        <p:nvSpPr>
          <p:cNvPr id="325" name="Text 38"/>
          <p:cNvSpPr txBox="1"/>
          <p:nvPr/>
        </p:nvSpPr>
        <p:spPr>
          <a:xfrm>
            <a:off x="9150572" y="3290100"/>
            <a:ext cx="2434334" cy="480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 algn="ctr">
              <a:defRPr sz="1500">
                <a:solidFill>
                  <a:srgbClr val="1F2937"/>
                </a:solidFill>
              </a:defRPr>
            </a:lvl1pPr>
          </a:lstStyle>
          <a:p>
            <a:r>
              <a:rPr sz="1501"/>
              <a:t>Für Double Buffering z.B. muss gelten: </a:t>
            </a:r>
          </a:p>
        </p:txBody>
      </p:sp>
      <p:sp>
        <p:nvSpPr>
          <p:cNvPr id="326" name="Text 40"/>
          <p:cNvSpPr txBox="1"/>
          <p:nvPr/>
        </p:nvSpPr>
        <p:spPr>
          <a:xfrm>
            <a:off x="8460503" y="4661815"/>
            <a:ext cx="3520692" cy="711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/>
          <a:p>
            <a:pPr>
              <a:defRPr sz="1500" i="1">
                <a:solidFill>
                  <a:srgbClr val="1F2937"/>
                </a:solidFill>
              </a:defRPr>
            </a:pPr>
            <a:r>
              <a:rPr sz="1501"/>
              <a:t>*bezieht sich auf die parallel im L1 gehaltenen Dimensionen, </a:t>
            </a:r>
            <a:r>
              <a:rPr sz="1501" b="1"/>
              <a:t>NICHT </a:t>
            </a:r>
            <a:r>
              <a:rPr sz="1501"/>
              <a:t>die sequentiell/verteilt abgearbeitet werden</a:t>
            </a:r>
          </a:p>
        </p:txBody>
      </p:sp>
      <p:pic>
        <p:nvPicPr>
          <p:cNvPr id="327" name="Bildschirmfoto 2026-06-16 um 21.54.56.png" descr="Bildschirmfoto 2026-06-16 um 21.54.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1" y="1221020"/>
            <a:ext cx="3243071" cy="505731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Bildschirmfoto 2026-06-16 um 22.00.11.png" descr="Bildschirmfoto 2026-06-16 um 22.00.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062" y="4003109"/>
            <a:ext cx="4011353" cy="279863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ext 3"/>
          <p:cNvSpPr txBox="1"/>
          <p:nvPr/>
        </p:nvSpPr>
        <p:spPr>
          <a:xfrm>
            <a:off x="11652221" y="6749940"/>
            <a:ext cx="8053432" cy="416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700" b="1">
                <a:solidFill>
                  <a:srgbClr val="12263A"/>
                </a:solidFill>
              </a:defRPr>
            </a:lvl1pPr>
          </a:lstStyle>
          <a:p>
            <a:r>
              <a:rPr sz="2702"/>
              <a:t>…usw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3"/>
          <p:cNvSpPr txBox="1"/>
          <p:nvPr/>
        </p:nvSpPr>
        <p:spPr>
          <a:xfrm>
            <a:off x="503340" y="530844"/>
            <a:ext cx="8053431" cy="416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700" b="1">
                <a:solidFill>
                  <a:srgbClr val="12263A"/>
                </a:solidFill>
              </a:defRPr>
            </a:lvl1pPr>
          </a:lstStyle>
          <a:p>
            <a:r>
              <a:rPr sz="2702"/>
              <a:t>Ablauf</a:t>
            </a:r>
          </a:p>
        </p:txBody>
      </p:sp>
      <p:sp>
        <p:nvSpPr>
          <p:cNvPr id="332" name="Line 4"/>
          <p:cNvSpPr/>
          <p:nvPr/>
        </p:nvSpPr>
        <p:spPr>
          <a:xfrm>
            <a:off x="503338" y="1134851"/>
            <a:ext cx="11164987" cy="1"/>
          </a:xfrm>
          <a:prstGeom prst="line">
            <a:avLst/>
          </a:prstGeom>
          <a:ln>
            <a:solidFill>
              <a:srgbClr val="D7DEE8"/>
            </a:solidFill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33" name="Shape 6"/>
          <p:cNvSpPr/>
          <p:nvPr/>
        </p:nvSpPr>
        <p:spPr>
          <a:xfrm>
            <a:off x="562824" y="1442139"/>
            <a:ext cx="5307945" cy="113402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34" name="Shape 7"/>
          <p:cNvSpPr/>
          <p:nvPr/>
        </p:nvSpPr>
        <p:spPr>
          <a:xfrm>
            <a:off x="1020406" y="1455468"/>
            <a:ext cx="4392782" cy="118971"/>
          </a:xfrm>
          <a:prstGeom prst="rect">
            <a:avLst/>
          </a:prstGeom>
          <a:solidFill>
            <a:srgbClr val="2F80ED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35" name="Text 8"/>
          <p:cNvSpPr txBox="1"/>
          <p:nvPr/>
        </p:nvSpPr>
        <p:spPr>
          <a:xfrm>
            <a:off x="819070" y="1698385"/>
            <a:ext cx="4667331" cy="279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2263A"/>
                </a:solidFill>
              </a:defRPr>
            </a:lvl1pPr>
          </a:lstStyle>
          <a:p>
            <a:r>
              <a:t>Schritt 1: Matrixgrößen eingeben</a:t>
            </a:r>
          </a:p>
        </p:txBody>
      </p:sp>
      <p:sp>
        <p:nvSpPr>
          <p:cNvPr id="336" name="Shape 17"/>
          <p:cNvSpPr/>
          <p:nvPr/>
        </p:nvSpPr>
        <p:spPr>
          <a:xfrm>
            <a:off x="6383260" y="1438888"/>
            <a:ext cx="5307945" cy="3144553"/>
          </a:xfrm>
          <a:prstGeom prst="roundRect">
            <a:avLst>
              <a:gd name="adj" fmla="val 18917"/>
            </a:avLst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37" name="Shape 18"/>
          <p:cNvSpPr/>
          <p:nvPr/>
        </p:nvSpPr>
        <p:spPr>
          <a:xfrm>
            <a:off x="6840841" y="1438887"/>
            <a:ext cx="4328721" cy="118973"/>
          </a:xfrm>
          <a:prstGeom prst="rect">
            <a:avLst/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38" name="Text 19"/>
          <p:cNvSpPr txBox="1"/>
          <p:nvPr/>
        </p:nvSpPr>
        <p:spPr>
          <a:xfrm>
            <a:off x="6639505" y="1695135"/>
            <a:ext cx="4667331" cy="279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2263A"/>
                </a:solidFill>
              </a:defRPr>
            </a:lvl1pPr>
          </a:lstStyle>
          <a:p>
            <a:r>
              <a:t>Schritt 3: MLIR Generator </a:t>
            </a:r>
          </a:p>
        </p:txBody>
      </p:sp>
      <p:sp>
        <p:nvSpPr>
          <p:cNvPr id="339" name="Shape 23"/>
          <p:cNvSpPr/>
          <p:nvPr/>
        </p:nvSpPr>
        <p:spPr>
          <a:xfrm>
            <a:off x="6625523" y="2307718"/>
            <a:ext cx="82367" cy="82366"/>
          </a:xfrm>
          <a:prstGeom prst="roundRect">
            <a:avLst>
              <a:gd name="adj" fmla="val 16667"/>
            </a:avLst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40" name="Shape 25"/>
          <p:cNvSpPr/>
          <p:nvPr/>
        </p:nvSpPr>
        <p:spPr>
          <a:xfrm>
            <a:off x="6625523" y="4044529"/>
            <a:ext cx="82367" cy="82366"/>
          </a:xfrm>
          <a:prstGeom prst="roundRect">
            <a:avLst>
              <a:gd name="adj" fmla="val 16667"/>
            </a:avLst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41" name="Shape 6"/>
          <p:cNvSpPr/>
          <p:nvPr/>
        </p:nvSpPr>
        <p:spPr>
          <a:xfrm>
            <a:off x="562824" y="2984624"/>
            <a:ext cx="5307945" cy="3828618"/>
          </a:xfrm>
          <a:prstGeom prst="roundRect">
            <a:avLst>
              <a:gd name="adj" fmla="val 15537"/>
            </a:avLst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42" name="Shape 7"/>
          <p:cNvSpPr/>
          <p:nvPr/>
        </p:nvSpPr>
        <p:spPr>
          <a:xfrm>
            <a:off x="1020406" y="2997953"/>
            <a:ext cx="4392782" cy="118971"/>
          </a:xfrm>
          <a:prstGeom prst="rect">
            <a:avLst/>
          </a:prstGeom>
          <a:solidFill>
            <a:srgbClr val="2F80ED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43" name="Text 8"/>
          <p:cNvSpPr txBox="1"/>
          <p:nvPr/>
        </p:nvSpPr>
        <p:spPr>
          <a:xfrm>
            <a:off x="819070" y="3240870"/>
            <a:ext cx="4667331" cy="55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2263A"/>
                </a:solidFill>
              </a:defRPr>
            </a:lvl1pPr>
          </a:lstStyle>
          <a:p>
            <a:r>
              <a:t>Schritt 2: Tiling Parameter finden (Constraint Solver, Python)</a:t>
            </a:r>
          </a:p>
        </p:txBody>
      </p:sp>
      <p:sp>
        <p:nvSpPr>
          <p:cNvPr id="344" name="Shape 10"/>
          <p:cNvSpPr/>
          <p:nvPr/>
        </p:nvSpPr>
        <p:spPr>
          <a:xfrm>
            <a:off x="841949" y="5758657"/>
            <a:ext cx="82366" cy="82366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45" name="Text 22"/>
          <p:cNvSpPr txBox="1"/>
          <p:nvPr/>
        </p:nvSpPr>
        <p:spPr>
          <a:xfrm>
            <a:off x="1073791" y="5682648"/>
            <a:ext cx="4328720" cy="234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 sz="1400">
                <a:solidFill>
                  <a:srgbClr val="1F2937"/>
                </a:solidFill>
              </a:defRPr>
            </a:lvl1pPr>
          </a:lstStyle>
          <a:p>
            <a:r>
              <a:rPr sz="1401"/>
              <a:t>MAX_TILES: 32</a:t>
            </a:r>
          </a:p>
        </p:txBody>
      </p:sp>
      <p:sp>
        <p:nvSpPr>
          <p:cNvPr id="346" name="Text 22"/>
          <p:cNvSpPr txBox="1"/>
          <p:nvPr/>
        </p:nvSpPr>
        <p:spPr>
          <a:xfrm>
            <a:off x="1052436" y="2101964"/>
            <a:ext cx="4328721" cy="234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 sz="1400">
                <a:solidFill>
                  <a:srgbClr val="1F2937"/>
                </a:solidFill>
              </a:defRPr>
            </a:lvl1pPr>
          </a:lstStyle>
          <a:p>
            <a:r>
              <a:rPr sz="1401"/>
              <a:t>Input: M, N, K</a:t>
            </a:r>
          </a:p>
        </p:txBody>
      </p:sp>
      <p:sp>
        <p:nvSpPr>
          <p:cNvPr id="347" name="Shape 10"/>
          <p:cNvSpPr/>
          <p:nvPr/>
        </p:nvSpPr>
        <p:spPr>
          <a:xfrm>
            <a:off x="861777" y="2155966"/>
            <a:ext cx="82366" cy="82366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48" name="Shape 10"/>
          <p:cNvSpPr/>
          <p:nvPr/>
        </p:nvSpPr>
        <p:spPr>
          <a:xfrm>
            <a:off x="852626" y="5995328"/>
            <a:ext cx="82366" cy="82366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49" name="Text 22"/>
          <p:cNvSpPr txBox="1"/>
          <p:nvPr/>
        </p:nvSpPr>
        <p:spPr>
          <a:xfrm>
            <a:off x="1084467" y="5919319"/>
            <a:ext cx="4328721" cy="234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 sz="1400">
                <a:solidFill>
                  <a:srgbClr val="1F2937"/>
                </a:solidFill>
              </a:defRPr>
            </a:lvl1pPr>
          </a:lstStyle>
          <a:p>
            <a:r>
              <a:rPr sz="1401"/>
              <a:t>MAX_COLS: 8; MAX_ROWS: 4</a:t>
            </a:r>
          </a:p>
        </p:txBody>
      </p:sp>
      <p:sp>
        <p:nvSpPr>
          <p:cNvPr id="350" name="Shape 10"/>
          <p:cNvSpPr/>
          <p:nvPr/>
        </p:nvSpPr>
        <p:spPr>
          <a:xfrm>
            <a:off x="841950" y="6269414"/>
            <a:ext cx="82366" cy="82366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51" name="Text 22"/>
          <p:cNvSpPr txBox="1"/>
          <p:nvPr/>
        </p:nvSpPr>
        <p:spPr>
          <a:xfrm>
            <a:off x="1073791" y="6193405"/>
            <a:ext cx="4328720" cy="234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/>
          <a:p>
            <a:pPr lvl="3">
              <a:defRPr sz="1400">
                <a:solidFill>
                  <a:srgbClr val="1F2937"/>
                </a:solidFill>
              </a:defRPr>
            </a:pPr>
            <a:r>
              <a:rPr sz="1401"/>
              <a:t>L1_SIZE: 64                   usw..</a:t>
            </a:r>
          </a:p>
        </p:txBody>
      </p:sp>
      <p:sp>
        <p:nvSpPr>
          <p:cNvPr id="352" name="Text 26"/>
          <p:cNvSpPr txBox="1"/>
          <p:nvPr/>
        </p:nvSpPr>
        <p:spPr>
          <a:xfrm>
            <a:off x="850592" y="4029490"/>
            <a:ext cx="4328721" cy="100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sz="1401"/>
              <a:t>Tiling-Parameter berechnen: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 sz="1401"/>
          </a:p>
          <a:p>
            <a:pPr marL="120411" indent="-120411">
              <a:buSzPct val="100000"/>
              <a:buChar char="•"/>
              <a:defRPr sz="1400">
                <a:solidFill>
                  <a:srgbClr val="1F2937"/>
                </a:solidFill>
              </a:defRPr>
            </a:pPr>
            <a:r>
              <a:rPr sz="1201"/>
              <a:t>Sequential (a/b loops)</a:t>
            </a:r>
          </a:p>
          <a:p>
            <a:pPr marL="120411" indent="-120411">
              <a:buSzPct val="100000"/>
              <a:buChar char="•"/>
              <a:defRPr sz="1400">
                <a:solidFill>
                  <a:srgbClr val="1F2937"/>
                </a:solidFill>
              </a:defRPr>
            </a:pPr>
            <a:r>
              <a:rPr sz="1201"/>
              <a:t>Spacial (auf Hardware verteilt)</a:t>
            </a:r>
          </a:p>
          <a:p>
            <a:pPr marL="120411" indent="-120411">
              <a:buSzPct val="100000"/>
              <a:buChar char="•"/>
              <a:defRPr sz="1400">
                <a:solidFill>
                  <a:srgbClr val="1F2937"/>
                </a:solidFill>
              </a:defRPr>
            </a:pPr>
            <a:r>
              <a:rPr sz="1201"/>
              <a:t>Innere Tile Größen</a:t>
            </a:r>
          </a:p>
        </p:txBody>
      </p:sp>
      <p:sp>
        <p:nvSpPr>
          <p:cNvPr id="353" name="Text 2"/>
          <p:cNvSpPr txBox="1"/>
          <p:nvPr/>
        </p:nvSpPr>
        <p:spPr>
          <a:xfrm>
            <a:off x="503338" y="256295"/>
            <a:ext cx="2470941" cy="154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rgbClr val="2FB7A0"/>
                </a:solidFill>
              </a:defRPr>
            </a:lvl1pPr>
          </a:lstStyle>
          <a:p>
            <a:r>
              <a:rPr sz="1001"/>
              <a:t>Idee A · NPU</a:t>
            </a:r>
          </a:p>
        </p:txBody>
      </p:sp>
      <p:sp>
        <p:nvSpPr>
          <p:cNvPr id="354" name="Text 22"/>
          <p:cNvSpPr txBox="1"/>
          <p:nvPr/>
        </p:nvSpPr>
        <p:spPr>
          <a:xfrm>
            <a:off x="1027270" y="5341178"/>
            <a:ext cx="4328721" cy="234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>
            <a:lvl1pPr>
              <a:defRPr sz="1400">
                <a:solidFill>
                  <a:srgbClr val="1F2937"/>
                </a:solidFill>
              </a:defRPr>
            </a:lvl1pPr>
          </a:lstStyle>
          <a:p>
            <a:r>
              <a:rPr sz="1401"/>
              <a:t>CONSTRAINTS (aus Folie davor):</a:t>
            </a:r>
          </a:p>
        </p:txBody>
      </p:sp>
      <p:sp>
        <p:nvSpPr>
          <p:cNvPr id="355" name="Shape 17"/>
          <p:cNvSpPr/>
          <p:nvPr/>
        </p:nvSpPr>
        <p:spPr>
          <a:xfrm>
            <a:off x="6319198" y="5096185"/>
            <a:ext cx="5307945" cy="7921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7DEE8"/>
            </a:solidFill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56" name="Shape 18"/>
          <p:cNvSpPr/>
          <p:nvPr/>
        </p:nvSpPr>
        <p:spPr>
          <a:xfrm>
            <a:off x="6776779" y="5096183"/>
            <a:ext cx="4328721" cy="118973"/>
          </a:xfrm>
          <a:prstGeom prst="rect">
            <a:avLst/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57" name="Text 19"/>
          <p:cNvSpPr txBox="1"/>
          <p:nvPr/>
        </p:nvSpPr>
        <p:spPr>
          <a:xfrm>
            <a:off x="6575443" y="5352430"/>
            <a:ext cx="4667331" cy="279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2263A"/>
                </a:solidFill>
              </a:defRPr>
            </a:lvl1pPr>
          </a:lstStyle>
          <a:p>
            <a:r>
              <a:t>Schritt 4: Benchmark &amp; Analyse</a:t>
            </a:r>
          </a:p>
        </p:txBody>
      </p:sp>
      <p:sp>
        <p:nvSpPr>
          <p:cNvPr id="358" name="Shape 25"/>
          <p:cNvSpPr/>
          <p:nvPr/>
        </p:nvSpPr>
        <p:spPr>
          <a:xfrm>
            <a:off x="9768343" y="5090465"/>
            <a:ext cx="82366" cy="82366"/>
          </a:xfrm>
          <a:prstGeom prst="roundRect">
            <a:avLst>
              <a:gd name="adj" fmla="val 16667"/>
            </a:avLst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59" name="Text 22"/>
          <p:cNvSpPr txBox="1"/>
          <p:nvPr/>
        </p:nvSpPr>
        <p:spPr>
          <a:xfrm>
            <a:off x="6808809" y="2216839"/>
            <a:ext cx="4933716" cy="1963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52" tIns="9152" rIns="9152" bIns="9152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sz="1401"/>
              <a:t>Tile Variablen erzeugen: 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rPr sz="1401"/>
              <a:t>     %shim_noc_tile, %mem_tile, %tile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rPr sz="1401"/>
              <a:t>Input FIFOs: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rPr sz="1401"/>
              <a:t>      dimensionsToStream, memref-Typen, Strides, Sizes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rPr sz="1401"/>
              <a:t>Output FIFOs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 sz="1401"/>
          </a:p>
          <a:p>
            <a:pPr>
              <a:defRPr sz="1400">
                <a:solidFill>
                  <a:srgbClr val="1F2937"/>
                </a:solidFill>
              </a:defRPr>
            </a:pPr>
            <a:r>
              <a:rPr sz="1401"/>
              <a:t>Core Loops (fused ab-Loop)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endParaRPr sz="1401"/>
          </a:p>
          <a:p>
            <a:pPr>
              <a:defRPr sz="1400">
                <a:solidFill>
                  <a:srgbClr val="1F2937"/>
                </a:solidFill>
              </a:defRPr>
            </a:pPr>
            <a:r>
              <a:rPr sz="1401"/>
              <a:t>DMA-Deskriptoren im aie.runtime_sequence</a:t>
            </a:r>
          </a:p>
        </p:txBody>
      </p:sp>
      <p:sp>
        <p:nvSpPr>
          <p:cNvPr id="360" name="Shape 23"/>
          <p:cNvSpPr/>
          <p:nvPr/>
        </p:nvSpPr>
        <p:spPr>
          <a:xfrm>
            <a:off x="6625523" y="2723033"/>
            <a:ext cx="82367" cy="82366"/>
          </a:xfrm>
          <a:prstGeom prst="roundRect">
            <a:avLst>
              <a:gd name="adj" fmla="val 16667"/>
            </a:avLst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61" name="Shape 23"/>
          <p:cNvSpPr/>
          <p:nvPr/>
        </p:nvSpPr>
        <p:spPr>
          <a:xfrm>
            <a:off x="6625524" y="3139381"/>
            <a:ext cx="82366" cy="82366"/>
          </a:xfrm>
          <a:prstGeom prst="roundRect">
            <a:avLst>
              <a:gd name="adj" fmla="val 16667"/>
            </a:avLst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  <p:sp>
        <p:nvSpPr>
          <p:cNvPr id="362" name="Shape 23"/>
          <p:cNvSpPr/>
          <p:nvPr/>
        </p:nvSpPr>
        <p:spPr>
          <a:xfrm>
            <a:off x="6625523" y="3554696"/>
            <a:ext cx="82367" cy="82366"/>
          </a:xfrm>
          <a:prstGeom prst="roundRect">
            <a:avLst>
              <a:gd name="adj" fmla="val 16667"/>
            </a:avLst>
          </a:prstGeom>
          <a:solidFill>
            <a:srgbClr val="2FB7A0"/>
          </a:solidFill>
          <a:ln w="12700">
            <a:miter lim="400000"/>
          </a:ln>
        </p:spPr>
        <p:txBody>
          <a:bodyPr lIns="45757" rIns="45757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2018</Words>
  <Application>Microsoft Macintosh PowerPoint</Application>
  <PresentationFormat>Benutzerdefiniert</PresentationFormat>
  <Paragraphs>243</Paragraphs>
  <Slides>12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4" baseType="lpstr">
      <vt:lpstr>Aptos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Universität Jena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Auto-Tuning für Tensor-Kontraktionen mit cuTile</dc:title>
  <dc:creator>Niklas Becker-Klöser, Daria Elagina</dc:creator>
  <cp:keywords>cuTile; GPU; Auto-Tuning; Tensor Contractions</cp:keywords>
  <cp:lastModifiedBy>Niklas Maximilian Becker-Klöser</cp:lastModifiedBy>
  <cp:revision>9</cp:revision>
  <dcterms:created xsi:type="dcterms:W3CDTF">2026-06-16T00:00:00Z</dcterms:created>
  <dcterms:modified xsi:type="dcterms:W3CDTF">2026-06-17T11:56:51Z</dcterms:modified>
</cp:coreProperties>
</file>